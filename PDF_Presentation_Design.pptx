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this is the architecture for a platform where a user uploads any file — contract, spreadsheet, meeting recording, video — and asks questions about it in plain language. The two commitments that make it a product rather than a demo: answers are grounded and cited, and nothing expensive is ever computed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promise in business terms. Nine input formats collapse into one searchable representation, so the user asks one question and the system searches across a contract, a spreadsheet and a recording at once. The right-hand column is the part to dwell on: the system is allowed to say it does not know. A refusal is a feature — it is what makes the answers usable in a contract or finance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technical core. Two paths. Ingest, top: the file is fingerprinted before any expensive work — a hash match skips OCR, transcription, parsing and embedding entirely. Query, bottom: we deliberately retrieve far more than we send to the model, rerank down to the best five to eight passages, then an explicit evidence gate decides whether an answer is even possible. The gate is what buys hallucination resistance; the citation check is the second net. Note the model is the last step, not the first — it never sees the whole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architecture is commercially different. Left: cost is controlled in five stacked layers, and the top one — the processing cache — is the big lever, because OCR, transcription and embedding are the expensive steps and identical content is common in an enterprise. A 12-hour 4K video is the worst case that rate limits exist to contain. Right: session data is ephemeral. Logout deletes the user's files, transcripts, vectors and chat; the reusable cache that remains is anonymous and carries no user identity. Strict mode deletes that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Four phases, deliberately sequenced so a usable product ships in phase one on documents alone; the expensive media pipeline comes later, after the cost controls have been proven. Team is four people, DevOps part-time, and roles can be combined for the MVP. Closing point: the quality of the answers comes from retrieval, reranking, the evidence gate and citations — not from buying a bigger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2"/>
        </a:solidFill>
      </p:bgPr>
    </p:bg>
    <p:spTree>
      <p:nvGrpSpPr>
        <p:cNvPr id="1" name=""/>
        <p:cNvGrpSpPr/>
        <p:nvPr/>
      </p:nvGrpSpPr>
      <p:grpSpPr>
        <a:xfrm>
          <a:off x="0" y="0"/>
          <a:ext cx="0" cy="0"/>
          <a:chOff x="0" y="0"/>
          <a:chExt cx="0" cy="0"/>
        </a:xfrm>
      </p:grpSpPr>
      <p:sp>
        <p:nvSpPr>
          <p:cNvPr id="2" name="Text 0"/>
          <p:cNvSpPr/>
          <p:nvPr/>
        </p:nvSpPr>
        <p:spPr>
          <a:xfrm>
            <a:off x="952500" y="952500"/>
            <a:ext cx="4905271" cy="390525"/>
          </a:xfrm>
          <a:prstGeom prst="rect">
            <a:avLst/>
          </a:prstGeom>
          <a:noFill/>
          <a:ln/>
        </p:spPr>
        <p:txBody>
          <a:bodyPr wrap="square" lIns="25400" tIns="25400" rIns="25400" bIns="25400" rtlCol="0" anchor="t">
            <a:normAutofit/>
          </a:bodyPr>
          <a:lstStyle/>
          <a:p>
            <a:pPr algn="l" indent="0" marL="0">
              <a:buNone/>
            </a:pPr>
            <a:r>
              <a:rPr lang="en-US" sz="2100" spc="336" kern="0" dirty="0">
                <a:solidFill>
                  <a:srgbClr val="FF7A45"/>
                </a:solidFill>
                <a:latin typeface="Courier New" pitchFamily="34" charset="0"/>
                <a:ea typeface="Courier New" pitchFamily="34" charset="-122"/>
                <a:cs typeface="Courier New" pitchFamily="34" charset="-120"/>
              </a:rPr>
              <a:t>TECHNICAL ARCHITECTURE</a:t>
            </a:r>
            <a:endParaRPr lang="en-US" sz="2100" dirty="0"/>
          </a:p>
        </p:txBody>
      </p:sp>
      <p:sp>
        <p:nvSpPr>
          <p:cNvPr id="3" name="Text 1"/>
          <p:cNvSpPr/>
          <p:nvPr/>
        </p:nvSpPr>
        <p:spPr>
          <a:xfrm>
            <a:off x="15575161" y="952500"/>
            <a:ext cx="1936373" cy="390525"/>
          </a:xfrm>
          <a:prstGeom prst="rect">
            <a:avLst/>
          </a:prstGeom>
          <a:noFill/>
          <a:ln/>
        </p:spPr>
        <p:txBody>
          <a:bodyPr wrap="square" lIns="25400" tIns="25400" rIns="25400" bIns="25400" rtlCol="0" anchor="t">
            <a:normAutofit/>
          </a:bodyPr>
          <a:lstStyle/>
          <a:p>
            <a:pPr algn="l" indent="0" marL="0">
              <a:buNone/>
            </a:pPr>
            <a:r>
              <a:rPr lang="en-US" sz="2100" dirty="0">
                <a:solidFill>
                  <a:srgbClr val="6F7D8C"/>
                </a:solidFill>
                <a:latin typeface="Courier New" pitchFamily="34" charset="0"/>
                <a:ea typeface="Courier New" pitchFamily="34" charset="-122"/>
                <a:cs typeface="Courier New" pitchFamily="34" charset="-120"/>
              </a:rPr>
              <a:t>Version 1.0</a:t>
            </a:r>
            <a:endParaRPr lang="en-US" sz="2100" dirty="0"/>
          </a:p>
        </p:txBody>
      </p:sp>
      <p:sp>
        <p:nvSpPr>
          <p:cNvPr id="4" name="Shape 2"/>
          <p:cNvSpPr/>
          <p:nvPr/>
        </p:nvSpPr>
        <p:spPr>
          <a:xfrm>
            <a:off x="952500" y="2712244"/>
            <a:ext cx="1257300" cy="38100"/>
          </a:xfrm>
          <a:prstGeom prst="rect">
            <a:avLst/>
          </a:prstGeom>
          <a:solidFill>
            <a:srgbClr val="FF7A45"/>
          </a:solidFill>
          <a:ln/>
        </p:spPr>
      </p:sp>
      <p:sp>
        <p:nvSpPr>
          <p:cNvPr id="5" name="Text 3"/>
          <p:cNvSpPr/>
          <p:nvPr/>
        </p:nvSpPr>
        <p:spPr>
          <a:xfrm>
            <a:off x="952500" y="3131344"/>
            <a:ext cx="13735050" cy="2330946"/>
          </a:xfrm>
          <a:prstGeom prst="rect">
            <a:avLst/>
          </a:prstGeom>
          <a:noFill/>
          <a:ln/>
        </p:spPr>
        <p:txBody>
          <a:bodyPr wrap="square" lIns="25400" tIns="25400" rIns="25400" bIns="25400" rtlCol="0" anchor="t">
            <a:normAutofit/>
          </a:bodyPr>
          <a:lstStyle/>
          <a:p>
            <a:pPr algn="l" indent="0" marL="0">
              <a:lnSpc>
                <a:spcPct val="88500"/>
              </a:lnSpc>
              <a:buNone/>
            </a:pPr>
            <a:r>
              <a:rPr lang="en-US" sz="8850" b="1" spc="-265" kern="0" dirty="0">
                <a:solidFill>
                  <a:srgbClr val="ECEFF2"/>
                </a:solidFill>
                <a:latin typeface="Arial" pitchFamily="34" charset="0"/>
                <a:ea typeface="Arial" pitchFamily="34" charset="-122"/>
                <a:cs typeface="Arial" pitchFamily="34" charset="-120"/>
              </a:rPr>
              <a:t>Ephemeral Multi-Modal RAG System</a:t>
            </a:r>
            <a:endParaRPr lang="en-US" sz="8850" dirty="0"/>
          </a:p>
        </p:txBody>
      </p:sp>
      <p:sp>
        <p:nvSpPr>
          <p:cNvPr id="6" name="Text 4"/>
          <p:cNvSpPr/>
          <p:nvPr/>
        </p:nvSpPr>
        <p:spPr>
          <a:xfrm>
            <a:off x="952500" y="5805190"/>
            <a:ext cx="12263438" cy="1169491"/>
          </a:xfrm>
          <a:prstGeom prst="rect">
            <a:avLst/>
          </a:prstGeom>
          <a:noFill/>
          <a:ln/>
        </p:spPr>
        <p:txBody>
          <a:bodyPr wrap="square" lIns="25400" tIns="25400" rIns="25400" bIns="25400" rtlCol="0" anchor="t">
            <a:normAutofit/>
          </a:bodyPr>
          <a:lstStyle/>
          <a:p>
            <a:pPr algn="l" indent="0" marL="0">
              <a:lnSpc>
                <a:spcPct val="118800"/>
              </a:lnSpc>
              <a:buNone/>
            </a:pPr>
            <a:r>
              <a:rPr lang="en-US" sz="3300" dirty="0">
                <a:solidFill>
                  <a:srgbClr val="9AA6B2"/>
                </a:solidFill>
                <a:latin typeface="Arial" pitchFamily="34" charset="0"/>
                <a:ea typeface="Arial" pitchFamily="34" charset="-122"/>
                <a:cs typeface="Arial" pitchFamily="34" charset="-120"/>
              </a:rPr>
              <a:t>A question-answering platform for documents, images, audio and video — grounded, cited, and cost-controlled by design.</a:t>
            </a:r>
            <a:endParaRPr lang="en-US" sz="3300" dirty="0"/>
          </a:p>
        </p:txBody>
      </p:sp>
      <p:sp>
        <p:nvSpPr>
          <p:cNvPr id="7" name="Shape 5"/>
          <p:cNvSpPr/>
          <p:nvPr/>
        </p:nvSpPr>
        <p:spPr>
          <a:xfrm>
            <a:off x="952500" y="8343900"/>
            <a:ext cx="16383000" cy="9525"/>
          </a:xfrm>
          <a:prstGeom prst="rect">
            <a:avLst/>
          </a:prstGeom>
          <a:solidFill>
            <a:srgbClr val="222A33"/>
          </a:solidFill>
          <a:ln/>
        </p:spPr>
      </p:sp>
      <p:sp>
        <p:nvSpPr>
          <p:cNvPr id="8" name="Text 6"/>
          <p:cNvSpPr/>
          <p:nvPr/>
        </p:nvSpPr>
        <p:spPr>
          <a:xfrm>
            <a:off x="952500" y="8734425"/>
            <a:ext cx="5587945" cy="419100"/>
          </a:xfrm>
          <a:prstGeom prst="rect">
            <a:avLst/>
          </a:prstGeom>
          <a:noFill/>
          <a:ln/>
        </p:spPr>
        <p:txBody>
          <a:bodyPr wrap="square" lIns="25400" tIns="25400" rIns="25400" bIns="25400" rtlCol="0" anchor="t">
            <a:normAutofit/>
          </a:bodyPr>
          <a:lstStyle/>
          <a:p>
            <a:pPr algn="l" indent="0" marL="0">
              <a:buNone/>
            </a:pPr>
            <a:r>
              <a:rPr lang="en-US" sz="2550" b="1" dirty="0">
                <a:solidFill>
                  <a:srgbClr val="ECEFF2"/>
                </a:solidFill>
                <a:latin typeface="Arial" pitchFamily="34" charset="0"/>
                <a:ea typeface="Arial" pitchFamily="34" charset="-122"/>
                <a:cs typeface="Arial" pitchFamily="34" charset="-120"/>
              </a:rPr>
              <a:t>Grounded answers</a:t>
            </a:r>
            <a:endParaRPr lang="en-US" sz="2550" dirty="0"/>
          </a:p>
        </p:txBody>
      </p:sp>
      <p:sp>
        <p:nvSpPr>
          <p:cNvPr id="9" name="Text 7"/>
          <p:cNvSpPr/>
          <p:nvPr/>
        </p:nvSpPr>
        <p:spPr>
          <a:xfrm>
            <a:off x="952500" y="9210675"/>
            <a:ext cx="5587945" cy="352425"/>
          </a:xfrm>
          <a:prstGeom prst="rect">
            <a:avLst/>
          </a:prstGeom>
          <a:noFill/>
          <a:ln/>
        </p:spPr>
        <p:txBody>
          <a:bodyPr wrap="square" lIns="25400" tIns="25400" rIns="25400" bIns="25400" rtlCol="0" anchor="t">
            <a:normAutofit/>
          </a:bodyPr>
          <a:lstStyle/>
          <a:p>
            <a:pPr algn="l" indent="0" marL="0">
              <a:buNone/>
            </a:pPr>
            <a:r>
              <a:rPr lang="en-US" sz="2100" dirty="0">
                <a:solidFill>
                  <a:srgbClr val="6F7D8C"/>
                </a:solidFill>
                <a:latin typeface="Arial" pitchFamily="34" charset="0"/>
                <a:ea typeface="Arial" pitchFamily="34" charset="-122"/>
                <a:cs typeface="Arial" pitchFamily="34" charset="-120"/>
              </a:rPr>
              <a:t>Every claim traceable to a source</a:t>
            </a:r>
            <a:endParaRPr lang="en-US" sz="2100" dirty="0"/>
          </a:p>
        </p:txBody>
      </p:sp>
      <p:sp>
        <p:nvSpPr>
          <p:cNvPr id="10" name="Text 8"/>
          <p:cNvSpPr/>
          <p:nvPr/>
        </p:nvSpPr>
        <p:spPr>
          <a:xfrm>
            <a:off x="6603950" y="8734425"/>
            <a:ext cx="5587945" cy="419100"/>
          </a:xfrm>
          <a:prstGeom prst="rect">
            <a:avLst/>
          </a:prstGeom>
          <a:noFill/>
          <a:ln/>
        </p:spPr>
        <p:txBody>
          <a:bodyPr wrap="square" lIns="25400" tIns="25400" rIns="25400" bIns="25400" rtlCol="0" anchor="t">
            <a:normAutofit/>
          </a:bodyPr>
          <a:lstStyle/>
          <a:p>
            <a:pPr algn="l" indent="0" marL="0">
              <a:buNone/>
            </a:pPr>
            <a:r>
              <a:rPr lang="en-US" sz="2550" b="1" dirty="0">
                <a:solidFill>
                  <a:srgbClr val="ECEFF2"/>
                </a:solidFill>
                <a:latin typeface="Arial" pitchFamily="34" charset="0"/>
                <a:ea typeface="Arial" pitchFamily="34" charset="-122"/>
                <a:cs typeface="Arial" pitchFamily="34" charset="-120"/>
              </a:rPr>
              <a:t>Ephemeral sessions</a:t>
            </a:r>
            <a:endParaRPr lang="en-US" sz="2550" dirty="0"/>
          </a:p>
        </p:txBody>
      </p:sp>
      <p:sp>
        <p:nvSpPr>
          <p:cNvPr id="11" name="Text 9"/>
          <p:cNvSpPr/>
          <p:nvPr/>
        </p:nvSpPr>
        <p:spPr>
          <a:xfrm>
            <a:off x="6603950" y="9210675"/>
            <a:ext cx="5587945" cy="352425"/>
          </a:xfrm>
          <a:prstGeom prst="rect">
            <a:avLst/>
          </a:prstGeom>
          <a:noFill/>
          <a:ln/>
        </p:spPr>
        <p:txBody>
          <a:bodyPr wrap="square" lIns="25400" tIns="25400" rIns="25400" bIns="25400" rtlCol="0" anchor="t">
            <a:normAutofit/>
          </a:bodyPr>
          <a:lstStyle/>
          <a:p>
            <a:pPr algn="l" indent="0" marL="0">
              <a:buNone/>
            </a:pPr>
            <a:r>
              <a:rPr lang="en-US" sz="2100" dirty="0">
                <a:solidFill>
                  <a:srgbClr val="6F7D8C"/>
                </a:solidFill>
                <a:latin typeface="Arial" pitchFamily="34" charset="0"/>
                <a:ea typeface="Arial" pitchFamily="34" charset="-122"/>
                <a:cs typeface="Arial" pitchFamily="34" charset="-120"/>
              </a:rPr>
              <a:t>User data deleted at logout</a:t>
            </a:r>
            <a:endParaRPr lang="en-US" sz="2100" dirty="0"/>
          </a:p>
        </p:txBody>
      </p:sp>
      <p:sp>
        <p:nvSpPr>
          <p:cNvPr id="12" name="Text 10"/>
          <p:cNvSpPr/>
          <p:nvPr/>
        </p:nvSpPr>
        <p:spPr>
          <a:xfrm>
            <a:off x="12255401" y="8734425"/>
            <a:ext cx="5587945" cy="419100"/>
          </a:xfrm>
          <a:prstGeom prst="rect">
            <a:avLst/>
          </a:prstGeom>
          <a:noFill/>
          <a:ln/>
        </p:spPr>
        <p:txBody>
          <a:bodyPr wrap="square" lIns="25400" tIns="25400" rIns="25400" bIns="25400" rtlCol="0" anchor="t">
            <a:normAutofit/>
          </a:bodyPr>
          <a:lstStyle/>
          <a:p>
            <a:pPr algn="l" indent="0" marL="0">
              <a:buNone/>
            </a:pPr>
            <a:r>
              <a:rPr lang="en-US" sz="2550" b="1" dirty="0">
                <a:solidFill>
                  <a:srgbClr val="ECEFF2"/>
                </a:solidFill>
                <a:latin typeface="Arial" pitchFamily="34" charset="0"/>
                <a:ea typeface="Arial" pitchFamily="34" charset="-122"/>
                <a:cs typeface="Arial" pitchFamily="34" charset="-120"/>
              </a:rPr>
              <a:t>Reusable processing</a:t>
            </a:r>
            <a:endParaRPr lang="en-US" sz="2550" dirty="0"/>
          </a:p>
        </p:txBody>
      </p:sp>
      <p:sp>
        <p:nvSpPr>
          <p:cNvPr id="13" name="Text 11"/>
          <p:cNvSpPr/>
          <p:nvPr/>
        </p:nvSpPr>
        <p:spPr>
          <a:xfrm>
            <a:off x="12255401" y="9210675"/>
            <a:ext cx="5587945" cy="352425"/>
          </a:xfrm>
          <a:prstGeom prst="rect">
            <a:avLst/>
          </a:prstGeom>
          <a:noFill/>
          <a:ln/>
        </p:spPr>
        <p:txBody>
          <a:bodyPr wrap="square" lIns="25400" tIns="25400" rIns="25400" bIns="25400" rtlCol="0" anchor="t">
            <a:normAutofit/>
          </a:bodyPr>
          <a:lstStyle/>
          <a:p>
            <a:pPr algn="l" indent="0" marL="0">
              <a:buNone/>
            </a:pPr>
            <a:r>
              <a:rPr lang="en-US" sz="2100" dirty="0">
                <a:solidFill>
                  <a:srgbClr val="6F7D8C"/>
                </a:solidFill>
                <a:latin typeface="Arial" pitchFamily="34" charset="0"/>
                <a:ea typeface="Arial" pitchFamily="34" charset="-122"/>
                <a:cs typeface="Arial" pitchFamily="34" charset="-120"/>
              </a:rPr>
              <a:t>Identical content never re-processed</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952500" y="952500"/>
            <a:ext cx="18021300" cy="390525"/>
          </a:xfrm>
          <a:prstGeom prst="rect">
            <a:avLst/>
          </a:prstGeom>
          <a:noFill/>
          <a:ln/>
        </p:spPr>
        <p:txBody>
          <a:bodyPr wrap="square" lIns="25400" tIns="25400" rIns="25400" bIns="25400" rtlCol="0" anchor="t">
            <a:normAutofit/>
          </a:bodyPr>
          <a:lstStyle/>
          <a:p>
            <a:pPr algn="l" indent="0" marL="0">
              <a:buNone/>
            </a:pPr>
            <a:r>
              <a:rPr lang="en-US" sz="2100" spc="336" kern="0" dirty="0">
                <a:solidFill>
                  <a:srgbClr val="C2410C"/>
                </a:solidFill>
                <a:latin typeface="Courier New" pitchFamily="34" charset="0"/>
                <a:ea typeface="Courier New" pitchFamily="34" charset="-122"/>
                <a:cs typeface="Courier New" pitchFamily="34" charset="-120"/>
              </a:rPr>
              <a:t>01 — CAPABILITY</a:t>
            </a:r>
            <a:endParaRPr lang="en-US" sz="2100" dirty="0"/>
          </a:p>
        </p:txBody>
      </p:sp>
      <p:sp>
        <p:nvSpPr>
          <p:cNvPr id="3" name="Text 1"/>
          <p:cNvSpPr/>
          <p:nvPr/>
        </p:nvSpPr>
        <p:spPr>
          <a:xfrm>
            <a:off x="952500" y="1476375"/>
            <a:ext cx="18021300" cy="758130"/>
          </a:xfrm>
          <a:prstGeom prst="rect">
            <a:avLst/>
          </a:prstGeom>
          <a:noFill/>
          <a:ln/>
        </p:spPr>
        <p:txBody>
          <a:bodyPr wrap="square" lIns="25400" tIns="25400" rIns="25400" bIns="25400" rtlCol="0" anchor="t">
            <a:normAutofit/>
          </a:bodyPr>
          <a:lstStyle/>
          <a:p>
            <a:pPr algn="l" indent="0" marL="0">
              <a:lnSpc>
                <a:spcPct val="92195"/>
              </a:lnSpc>
              <a:buNone/>
            </a:pPr>
            <a:r>
              <a:rPr lang="en-US" sz="5400" b="1" spc="-108" kern="0" dirty="0">
                <a:solidFill>
                  <a:srgbClr val="14181D"/>
                </a:solidFill>
                <a:latin typeface="Arial" pitchFamily="34" charset="0"/>
                <a:ea typeface="Arial" pitchFamily="34" charset="-122"/>
                <a:cs typeface="Arial" pitchFamily="34" charset="-120"/>
              </a:rPr>
              <a:t>Any file in, a cited answer out</a:t>
            </a:r>
            <a:endParaRPr lang="en-US" sz="5400" dirty="0"/>
          </a:p>
        </p:txBody>
      </p:sp>
      <p:sp>
        <p:nvSpPr>
          <p:cNvPr id="4" name="Text 2"/>
          <p:cNvSpPr/>
          <p:nvPr/>
        </p:nvSpPr>
        <p:spPr>
          <a:xfrm>
            <a:off x="952500" y="2691705"/>
            <a:ext cx="8800936" cy="371475"/>
          </a:xfrm>
          <a:prstGeom prst="rect">
            <a:avLst/>
          </a:prstGeom>
          <a:noFill/>
          <a:ln/>
        </p:spPr>
        <p:txBody>
          <a:bodyPr wrap="square" lIns="25400" tIns="25400" rIns="25400" bIns="25400" rtlCol="0" anchor="t">
            <a:normAutofit/>
          </a:bodyPr>
          <a:lstStyle/>
          <a:p>
            <a:pPr algn="l" indent="0" marL="0">
              <a:buNone/>
            </a:pPr>
            <a:r>
              <a:rPr lang="en-US" sz="2250" b="1" spc="135" kern="0" dirty="0">
                <a:solidFill>
                  <a:srgbClr val="6B7280"/>
                </a:solidFill>
                <a:latin typeface="Arial" pitchFamily="34" charset="0"/>
                <a:ea typeface="Arial" pitchFamily="34" charset="-122"/>
                <a:cs typeface="Arial" pitchFamily="34" charset="-120"/>
              </a:rPr>
              <a:t>ACCEPTED SOURCES</a:t>
            </a:r>
            <a:endParaRPr lang="en-US" sz="2250" dirty="0"/>
          </a:p>
        </p:txBody>
      </p:sp>
      <p:sp>
        <p:nvSpPr>
          <p:cNvPr id="5" name="Shape 3"/>
          <p:cNvSpPr/>
          <p:nvPr/>
        </p:nvSpPr>
        <p:spPr>
          <a:xfrm>
            <a:off x="952500" y="3310830"/>
            <a:ext cx="2565350" cy="790575"/>
          </a:xfrm>
          <a:prstGeom prst="rect">
            <a:avLst/>
          </a:prstGeom>
          <a:solidFill>
            <a:srgbClr val="FFFFFF"/>
          </a:solidFill>
          <a:ln w="9525">
            <a:solidFill>
              <a:srgbClr val="DED8CC"/>
            </a:solidFill>
            <a:prstDash val="solid"/>
          </a:ln>
        </p:spPr>
      </p:sp>
      <p:sp>
        <p:nvSpPr>
          <p:cNvPr id="6" name="Text 4"/>
          <p:cNvSpPr/>
          <p:nvPr/>
        </p:nvSpPr>
        <p:spPr>
          <a:xfrm>
            <a:off x="1152525" y="3529905"/>
            <a:ext cx="224226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4181D"/>
                </a:solidFill>
                <a:latin typeface="Courier New" pitchFamily="34" charset="0"/>
                <a:ea typeface="Courier New" pitchFamily="34" charset="-122"/>
                <a:cs typeface="Courier New" pitchFamily="34" charset="-120"/>
              </a:rPr>
              <a:t>PDF</a:t>
            </a:r>
            <a:endParaRPr lang="en-US" sz="2100" dirty="0"/>
          </a:p>
        </p:txBody>
      </p:sp>
      <p:sp>
        <p:nvSpPr>
          <p:cNvPr id="7" name="Shape 5"/>
          <p:cNvSpPr/>
          <p:nvPr/>
        </p:nvSpPr>
        <p:spPr>
          <a:xfrm>
            <a:off x="3670250" y="3310830"/>
            <a:ext cx="2565350" cy="790575"/>
          </a:xfrm>
          <a:prstGeom prst="rect">
            <a:avLst/>
          </a:prstGeom>
          <a:solidFill>
            <a:srgbClr val="FFFFFF"/>
          </a:solidFill>
          <a:ln w="9525">
            <a:solidFill>
              <a:srgbClr val="DED8CC"/>
            </a:solidFill>
            <a:prstDash val="solid"/>
          </a:ln>
        </p:spPr>
      </p:sp>
      <p:sp>
        <p:nvSpPr>
          <p:cNvPr id="8" name="Text 6"/>
          <p:cNvSpPr/>
          <p:nvPr/>
        </p:nvSpPr>
        <p:spPr>
          <a:xfrm>
            <a:off x="3870275" y="3529905"/>
            <a:ext cx="224226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4181D"/>
                </a:solidFill>
                <a:latin typeface="Courier New" pitchFamily="34" charset="0"/>
                <a:ea typeface="Courier New" pitchFamily="34" charset="-122"/>
                <a:cs typeface="Courier New" pitchFamily="34" charset="-120"/>
              </a:rPr>
              <a:t>Scanned PDF</a:t>
            </a:r>
            <a:endParaRPr lang="en-US" sz="2100" dirty="0"/>
          </a:p>
        </p:txBody>
      </p:sp>
      <p:sp>
        <p:nvSpPr>
          <p:cNvPr id="9" name="Shape 7"/>
          <p:cNvSpPr/>
          <p:nvPr/>
        </p:nvSpPr>
        <p:spPr>
          <a:xfrm>
            <a:off x="6388001" y="3310830"/>
            <a:ext cx="2565350" cy="790575"/>
          </a:xfrm>
          <a:prstGeom prst="rect">
            <a:avLst/>
          </a:prstGeom>
          <a:solidFill>
            <a:srgbClr val="FFFFFF"/>
          </a:solidFill>
          <a:ln w="9525">
            <a:solidFill>
              <a:srgbClr val="DED8CC"/>
            </a:solidFill>
            <a:prstDash val="solid"/>
          </a:ln>
        </p:spPr>
      </p:sp>
      <p:sp>
        <p:nvSpPr>
          <p:cNvPr id="10" name="Text 8"/>
          <p:cNvSpPr/>
          <p:nvPr/>
        </p:nvSpPr>
        <p:spPr>
          <a:xfrm>
            <a:off x="6588026" y="3529905"/>
            <a:ext cx="224226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4181D"/>
                </a:solidFill>
                <a:latin typeface="Courier New" pitchFamily="34" charset="0"/>
                <a:ea typeface="Courier New" pitchFamily="34" charset="-122"/>
                <a:cs typeface="Courier New" pitchFamily="34" charset="-120"/>
              </a:rPr>
              <a:t>DOCX</a:t>
            </a:r>
            <a:endParaRPr lang="en-US" sz="2100" dirty="0"/>
          </a:p>
        </p:txBody>
      </p:sp>
      <p:sp>
        <p:nvSpPr>
          <p:cNvPr id="11" name="Shape 9"/>
          <p:cNvSpPr/>
          <p:nvPr/>
        </p:nvSpPr>
        <p:spPr>
          <a:xfrm>
            <a:off x="952500" y="4253805"/>
            <a:ext cx="2565350" cy="790575"/>
          </a:xfrm>
          <a:prstGeom prst="rect">
            <a:avLst/>
          </a:prstGeom>
          <a:solidFill>
            <a:srgbClr val="FFFFFF"/>
          </a:solidFill>
          <a:ln w="9525">
            <a:solidFill>
              <a:srgbClr val="DED8CC"/>
            </a:solidFill>
            <a:prstDash val="solid"/>
          </a:ln>
        </p:spPr>
      </p:sp>
      <p:sp>
        <p:nvSpPr>
          <p:cNvPr id="12" name="Text 10"/>
          <p:cNvSpPr/>
          <p:nvPr/>
        </p:nvSpPr>
        <p:spPr>
          <a:xfrm>
            <a:off x="1152525" y="4472880"/>
            <a:ext cx="224226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4181D"/>
                </a:solidFill>
                <a:latin typeface="Courier New" pitchFamily="34" charset="0"/>
                <a:ea typeface="Courier New" pitchFamily="34" charset="-122"/>
                <a:cs typeface="Courier New" pitchFamily="34" charset="-120"/>
              </a:rPr>
              <a:t>XLSX</a:t>
            </a:r>
            <a:endParaRPr lang="en-US" sz="2100" dirty="0"/>
          </a:p>
        </p:txBody>
      </p:sp>
      <p:sp>
        <p:nvSpPr>
          <p:cNvPr id="13" name="Shape 11"/>
          <p:cNvSpPr/>
          <p:nvPr/>
        </p:nvSpPr>
        <p:spPr>
          <a:xfrm>
            <a:off x="3670250" y="4253805"/>
            <a:ext cx="2565350" cy="790575"/>
          </a:xfrm>
          <a:prstGeom prst="rect">
            <a:avLst/>
          </a:prstGeom>
          <a:solidFill>
            <a:srgbClr val="FFFFFF"/>
          </a:solidFill>
          <a:ln w="9525">
            <a:solidFill>
              <a:srgbClr val="DED8CC"/>
            </a:solidFill>
            <a:prstDash val="solid"/>
          </a:ln>
        </p:spPr>
      </p:sp>
      <p:sp>
        <p:nvSpPr>
          <p:cNvPr id="14" name="Text 12"/>
          <p:cNvSpPr/>
          <p:nvPr/>
        </p:nvSpPr>
        <p:spPr>
          <a:xfrm>
            <a:off x="3870275" y="4472880"/>
            <a:ext cx="224226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4181D"/>
                </a:solidFill>
                <a:latin typeface="Courier New" pitchFamily="34" charset="0"/>
                <a:ea typeface="Courier New" pitchFamily="34" charset="-122"/>
                <a:cs typeface="Courier New" pitchFamily="34" charset="-120"/>
              </a:rPr>
              <a:t>PPTX</a:t>
            </a:r>
            <a:endParaRPr lang="en-US" sz="2100" dirty="0"/>
          </a:p>
        </p:txBody>
      </p:sp>
      <p:sp>
        <p:nvSpPr>
          <p:cNvPr id="15" name="Shape 13"/>
          <p:cNvSpPr/>
          <p:nvPr/>
        </p:nvSpPr>
        <p:spPr>
          <a:xfrm>
            <a:off x="6388001" y="4253805"/>
            <a:ext cx="2565350" cy="790575"/>
          </a:xfrm>
          <a:prstGeom prst="rect">
            <a:avLst/>
          </a:prstGeom>
          <a:solidFill>
            <a:srgbClr val="FFFFFF"/>
          </a:solidFill>
          <a:ln w="9525">
            <a:solidFill>
              <a:srgbClr val="DED8CC"/>
            </a:solidFill>
            <a:prstDash val="solid"/>
          </a:ln>
        </p:spPr>
      </p:sp>
      <p:sp>
        <p:nvSpPr>
          <p:cNvPr id="16" name="Text 14"/>
          <p:cNvSpPr/>
          <p:nvPr/>
        </p:nvSpPr>
        <p:spPr>
          <a:xfrm>
            <a:off x="6588026" y="4472880"/>
            <a:ext cx="224226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4181D"/>
                </a:solidFill>
                <a:latin typeface="Courier New" pitchFamily="34" charset="0"/>
                <a:ea typeface="Courier New" pitchFamily="34" charset="-122"/>
                <a:cs typeface="Courier New" pitchFamily="34" charset="-120"/>
              </a:rPr>
              <a:t>TXT / MD</a:t>
            </a:r>
            <a:endParaRPr lang="en-US" sz="2100" dirty="0"/>
          </a:p>
        </p:txBody>
      </p:sp>
      <p:sp>
        <p:nvSpPr>
          <p:cNvPr id="17" name="Shape 15"/>
          <p:cNvSpPr/>
          <p:nvPr/>
        </p:nvSpPr>
        <p:spPr>
          <a:xfrm>
            <a:off x="952500" y="5196780"/>
            <a:ext cx="2565350" cy="790575"/>
          </a:xfrm>
          <a:prstGeom prst="rect">
            <a:avLst/>
          </a:prstGeom>
          <a:solidFill>
            <a:srgbClr val="FFFFFF"/>
          </a:solidFill>
          <a:ln w="9525">
            <a:solidFill>
              <a:srgbClr val="DED8CC"/>
            </a:solidFill>
            <a:prstDash val="solid"/>
          </a:ln>
        </p:spPr>
      </p:sp>
      <p:sp>
        <p:nvSpPr>
          <p:cNvPr id="18" name="Text 16"/>
          <p:cNvSpPr/>
          <p:nvPr/>
        </p:nvSpPr>
        <p:spPr>
          <a:xfrm>
            <a:off x="1152525" y="5415855"/>
            <a:ext cx="224226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4181D"/>
                </a:solidFill>
                <a:latin typeface="Courier New" pitchFamily="34" charset="0"/>
                <a:ea typeface="Courier New" pitchFamily="34" charset="-122"/>
                <a:cs typeface="Courier New" pitchFamily="34" charset="-120"/>
              </a:rPr>
              <a:t>Images</a:t>
            </a:r>
            <a:endParaRPr lang="en-US" sz="2100" dirty="0"/>
          </a:p>
        </p:txBody>
      </p:sp>
      <p:sp>
        <p:nvSpPr>
          <p:cNvPr id="19" name="Shape 17"/>
          <p:cNvSpPr/>
          <p:nvPr/>
        </p:nvSpPr>
        <p:spPr>
          <a:xfrm>
            <a:off x="3670250" y="5196780"/>
            <a:ext cx="2565350" cy="790575"/>
          </a:xfrm>
          <a:prstGeom prst="rect">
            <a:avLst/>
          </a:prstGeom>
          <a:solidFill>
            <a:srgbClr val="FFFFFF"/>
          </a:solidFill>
          <a:ln w="9525">
            <a:solidFill>
              <a:srgbClr val="DED8CC"/>
            </a:solidFill>
            <a:prstDash val="solid"/>
          </a:ln>
        </p:spPr>
      </p:sp>
      <p:sp>
        <p:nvSpPr>
          <p:cNvPr id="20" name="Text 18"/>
          <p:cNvSpPr/>
          <p:nvPr/>
        </p:nvSpPr>
        <p:spPr>
          <a:xfrm>
            <a:off x="3870275" y="5415855"/>
            <a:ext cx="224226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4181D"/>
                </a:solidFill>
                <a:latin typeface="Courier New" pitchFamily="34" charset="0"/>
                <a:ea typeface="Courier New" pitchFamily="34" charset="-122"/>
                <a:cs typeface="Courier New" pitchFamily="34" charset="-120"/>
              </a:rPr>
              <a:t>Audio</a:t>
            </a:r>
            <a:endParaRPr lang="en-US" sz="2100" dirty="0"/>
          </a:p>
        </p:txBody>
      </p:sp>
      <p:sp>
        <p:nvSpPr>
          <p:cNvPr id="21" name="Shape 19"/>
          <p:cNvSpPr/>
          <p:nvPr/>
        </p:nvSpPr>
        <p:spPr>
          <a:xfrm>
            <a:off x="6388001" y="5196780"/>
            <a:ext cx="2565350" cy="790575"/>
          </a:xfrm>
          <a:prstGeom prst="rect">
            <a:avLst/>
          </a:prstGeom>
          <a:solidFill>
            <a:srgbClr val="FFFFFF"/>
          </a:solidFill>
          <a:ln w="9525">
            <a:solidFill>
              <a:srgbClr val="DED8CC"/>
            </a:solidFill>
            <a:prstDash val="solid"/>
          </a:ln>
        </p:spPr>
      </p:sp>
      <p:sp>
        <p:nvSpPr>
          <p:cNvPr id="22" name="Text 20"/>
          <p:cNvSpPr/>
          <p:nvPr/>
        </p:nvSpPr>
        <p:spPr>
          <a:xfrm>
            <a:off x="6588026" y="5415855"/>
            <a:ext cx="224226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4181D"/>
                </a:solidFill>
                <a:latin typeface="Courier New" pitchFamily="34" charset="0"/>
                <a:ea typeface="Courier New" pitchFamily="34" charset="-122"/>
                <a:cs typeface="Courier New" pitchFamily="34" charset="-120"/>
              </a:rPr>
              <a:t>Video</a:t>
            </a:r>
            <a:endParaRPr lang="en-US" sz="2100" dirty="0"/>
          </a:p>
        </p:txBody>
      </p:sp>
      <p:sp>
        <p:nvSpPr>
          <p:cNvPr id="23" name="Text 21"/>
          <p:cNvSpPr/>
          <p:nvPr/>
        </p:nvSpPr>
        <p:spPr>
          <a:xfrm>
            <a:off x="952500" y="6273105"/>
            <a:ext cx="7456170" cy="1695450"/>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3F4750"/>
                </a:solidFill>
                <a:latin typeface="Arial" pitchFamily="34" charset="0"/>
                <a:ea typeface="Arial" pitchFamily="34" charset="-122"/>
                <a:cs typeface="Arial" pitchFamily="34" charset="-120"/>
              </a:rPr>
              <a:t>Text, tables, scanned pages, speech and on-screen visuals are all normalized into one searchable representation, so a single question can search a contract, a spreadsheet and a recorded meeting together.</a:t>
            </a:r>
            <a:endParaRPr lang="en-US" sz="2250" dirty="0"/>
          </a:p>
        </p:txBody>
      </p:sp>
      <p:sp>
        <p:nvSpPr>
          <p:cNvPr id="24" name="Text 22"/>
          <p:cNvSpPr/>
          <p:nvPr/>
        </p:nvSpPr>
        <p:spPr>
          <a:xfrm>
            <a:off x="9715351" y="2691705"/>
            <a:ext cx="8382000" cy="371475"/>
          </a:xfrm>
          <a:prstGeom prst="rect">
            <a:avLst/>
          </a:prstGeom>
          <a:noFill/>
          <a:ln/>
        </p:spPr>
        <p:txBody>
          <a:bodyPr wrap="square" lIns="25400" tIns="25400" rIns="25400" bIns="25400" rtlCol="0" anchor="t">
            <a:normAutofit/>
          </a:bodyPr>
          <a:lstStyle/>
          <a:p>
            <a:pPr algn="l" indent="0" marL="0">
              <a:buNone/>
            </a:pPr>
            <a:r>
              <a:rPr lang="en-US" sz="2250" b="1" spc="135" kern="0" dirty="0">
                <a:solidFill>
                  <a:srgbClr val="6B7280"/>
                </a:solidFill>
                <a:latin typeface="Arial" pitchFamily="34" charset="0"/>
                <a:ea typeface="Arial" pitchFamily="34" charset="-122"/>
                <a:cs typeface="Arial" pitchFamily="34" charset="-120"/>
              </a:rPr>
              <a:t>WHAT A USER ASKS</a:t>
            </a:r>
            <a:endParaRPr lang="en-US" sz="2250" dirty="0"/>
          </a:p>
        </p:txBody>
      </p:sp>
      <p:sp>
        <p:nvSpPr>
          <p:cNvPr id="25" name="Shape 23"/>
          <p:cNvSpPr/>
          <p:nvPr/>
        </p:nvSpPr>
        <p:spPr>
          <a:xfrm>
            <a:off x="9715351" y="3310830"/>
            <a:ext cx="7620000" cy="891480"/>
          </a:xfrm>
          <a:prstGeom prst="rect">
            <a:avLst/>
          </a:prstGeom>
          <a:solidFill>
            <a:srgbClr val="14181D"/>
          </a:solidFill>
          <a:ln/>
        </p:spPr>
      </p:sp>
      <p:sp>
        <p:nvSpPr>
          <p:cNvPr id="26" name="Text 24"/>
          <p:cNvSpPr/>
          <p:nvPr/>
        </p:nvSpPr>
        <p:spPr>
          <a:xfrm>
            <a:off x="10001101" y="3558480"/>
            <a:ext cx="7277100" cy="434280"/>
          </a:xfrm>
          <a:prstGeom prst="rect">
            <a:avLst/>
          </a:prstGeom>
          <a:noFill/>
          <a:ln/>
        </p:spPr>
        <p:txBody>
          <a:bodyPr wrap="square" lIns="25400" tIns="25400" rIns="25400" bIns="25400" rtlCol="0" anchor="t">
            <a:normAutofit/>
          </a:bodyPr>
          <a:lstStyle/>
          <a:p>
            <a:pPr algn="l" indent="0" marL="0">
              <a:lnSpc>
                <a:spcPct val="112432"/>
              </a:lnSpc>
              <a:buNone/>
            </a:pPr>
            <a:r>
              <a:rPr lang="en-US" sz="2400" dirty="0">
                <a:solidFill>
                  <a:srgbClr val="F5F2EC"/>
                </a:solidFill>
                <a:latin typeface="Arial" pitchFamily="34" charset="0"/>
                <a:ea typeface="Arial" pitchFamily="34" charset="-122"/>
                <a:cs typeface="Arial" pitchFamily="34" charset="-120"/>
              </a:rPr>
              <a:t>“What is the payment period?”</a:t>
            </a:r>
            <a:endParaRPr lang="en-US" sz="2400" dirty="0"/>
          </a:p>
        </p:txBody>
      </p:sp>
      <p:sp>
        <p:nvSpPr>
          <p:cNvPr id="27" name="Shape 25"/>
          <p:cNvSpPr/>
          <p:nvPr/>
        </p:nvSpPr>
        <p:spPr>
          <a:xfrm>
            <a:off x="9715351" y="4373761"/>
            <a:ext cx="7620000" cy="891480"/>
          </a:xfrm>
          <a:prstGeom prst="rect">
            <a:avLst/>
          </a:prstGeom>
          <a:solidFill>
            <a:srgbClr val="14181D"/>
          </a:solidFill>
          <a:ln/>
        </p:spPr>
      </p:sp>
      <p:sp>
        <p:nvSpPr>
          <p:cNvPr id="28" name="Text 26"/>
          <p:cNvSpPr/>
          <p:nvPr/>
        </p:nvSpPr>
        <p:spPr>
          <a:xfrm>
            <a:off x="10001101" y="4621411"/>
            <a:ext cx="7277100" cy="434280"/>
          </a:xfrm>
          <a:prstGeom prst="rect">
            <a:avLst/>
          </a:prstGeom>
          <a:noFill/>
          <a:ln/>
        </p:spPr>
        <p:txBody>
          <a:bodyPr wrap="square" lIns="25400" tIns="25400" rIns="25400" bIns="25400" rtlCol="0" anchor="t">
            <a:normAutofit/>
          </a:bodyPr>
          <a:lstStyle/>
          <a:p>
            <a:pPr algn="l" indent="0" marL="0">
              <a:lnSpc>
                <a:spcPct val="112432"/>
              </a:lnSpc>
              <a:buNone/>
            </a:pPr>
            <a:r>
              <a:rPr lang="en-US" sz="2400" dirty="0">
                <a:solidFill>
                  <a:srgbClr val="F5F2EC"/>
                </a:solidFill>
                <a:latin typeface="Arial" pitchFamily="34" charset="0"/>
                <a:ea typeface="Arial" pitchFamily="34" charset="-122"/>
                <a:cs typeface="Arial" pitchFamily="34" charset="-120"/>
              </a:rPr>
              <a:t>“What did John say about the delay?”</a:t>
            </a:r>
            <a:endParaRPr lang="en-US" sz="2400" dirty="0"/>
          </a:p>
        </p:txBody>
      </p:sp>
      <p:sp>
        <p:nvSpPr>
          <p:cNvPr id="29" name="Shape 27"/>
          <p:cNvSpPr/>
          <p:nvPr/>
        </p:nvSpPr>
        <p:spPr>
          <a:xfrm>
            <a:off x="9715351" y="5436691"/>
            <a:ext cx="7620000" cy="891480"/>
          </a:xfrm>
          <a:prstGeom prst="rect">
            <a:avLst/>
          </a:prstGeom>
          <a:solidFill>
            <a:srgbClr val="14181D"/>
          </a:solidFill>
          <a:ln/>
        </p:spPr>
      </p:sp>
      <p:sp>
        <p:nvSpPr>
          <p:cNvPr id="30" name="Text 28"/>
          <p:cNvSpPr/>
          <p:nvPr/>
        </p:nvSpPr>
        <p:spPr>
          <a:xfrm>
            <a:off x="10001101" y="5684341"/>
            <a:ext cx="7277100" cy="434280"/>
          </a:xfrm>
          <a:prstGeom prst="rect">
            <a:avLst/>
          </a:prstGeom>
          <a:noFill/>
          <a:ln/>
        </p:spPr>
        <p:txBody>
          <a:bodyPr wrap="square" lIns="25400" tIns="25400" rIns="25400" bIns="25400" rtlCol="0" anchor="t">
            <a:normAutofit/>
          </a:bodyPr>
          <a:lstStyle/>
          <a:p>
            <a:pPr algn="l" indent="0" marL="0">
              <a:lnSpc>
                <a:spcPct val="112432"/>
              </a:lnSpc>
              <a:buNone/>
            </a:pPr>
            <a:r>
              <a:rPr lang="en-US" sz="2400" dirty="0">
                <a:solidFill>
                  <a:srgbClr val="F5F2EC"/>
                </a:solidFill>
                <a:latin typeface="Arial" pitchFamily="34" charset="0"/>
                <a:ea typeface="Arial" pitchFamily="34" charset="-122"/>
                <a:cs typeface="Arial" pitchFamily="34" charset="-120"/>
              </a:rPr>
              <a:t>“What revenue was on the slide?”</a:t>
            </a:r>
            <a:endParaRPr lang="en-US" sz="2400" dirty="0"/>
          </a:p>
        </p:txBody>
      </p:sp>
      <p:sp>
        <p:nvSpPr>
          <p:cNvPr id="31" name="Shape 29"/>
          <p:cNvSpPr/>
          <p:nvPr/>
        </p:nvSpPr>
        <p:spPr>
          <a:xfrm>
            <a:off x="9715351" y="6613922"/>
            <a:ext cx="38100" cy="1247775"/>
          </a:xfrm>
          <a:prstGeom prst="rect">
            <a:avLst/>
          </a:prstGeom>
          <a:solidFill>
            <a:srgbClr val="C2410C"/>
          </a:solidFill>
          <a:ln/>
        </p:spPr>
      </p:sp>
      <p:sp>
        <p:nvSpPr>
          <p:cNvPr id="32" name="Text 30"/>
          <p:cNvSpPr/>
          <p:nvPr/>
        </p:nvSpPr>
        <p:spPr>
          <a:xfrm>
            <a:off x="10020151" y="6613922"/>
            <a:ext cx="8046720"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14181D"/>
                </a:solidFill>
                <a:latin typeface="Arial" pitchFamily="34" charset="0"/>
                <a:ea typeface="Arial" pitchFamily="34" charset="-122"/>
                <a:cs typeface="Arial" pitchFamily="34" charset="-120"/>
              </a:rPr>
              <a:t>And when the evidence isn't there</a:t>
            </a:r>
            <a:endParaRPr lang="en-US" sz="2250" dirty="0"/>
          </a:p>
        </p:txBody>
      </p:sp>
      <p:sp>
        <p:nvSpPr>
          <p:cNvPr id="33" name="Text 31"/>
          <p:cNvSpPr/>
          <p:nvPr/>
        </p:nvSpPr>
        <p:spPr>
          <a:xfrm>
            <a:off x="10020151" y="7061597"/>
            <a:ext cx="7534656" cy="83820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3F4750"/>
                </a:solidFill>
                <a:latin typeface="Arial" pitchFamily="34" charset="0"/>
                <a:ea typeface="Arial" pitchFamily="34" charset="-122"/>
                <a:cs typeface="Arial" pitchFamily="34" charset="-120"/>
              </a:rPr>
              <a:t>“I couldn't find this information in the uploaded content.” The system refuses rather than guesses.</a:t>
            </a:r>
            <a:endParaRPr lang="en-US" sz="2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2"/>
        </a:solidFill>
      </p:bgPr>
    </p:bg>
    <p:spTree>
      <p:nvGrpSpPr>
        <p:cNvPr id="1" name=""/>
        <p:cNvGrpSpPr/>
        <p:nvPr/>
      </p:nvGrpSpPr>
      <p:grpSpPr>
        <a:xfrm>
          <a:off x="0" y="0"/>
          <a:ext cx="0" cy="0"/>
          <a:chOff x="0" y="0"/>
          <a:chExt cx="0" cy="0"/>
        </a:xfrm>
      </p:grpSpPr>
      <p:sp>
        <p:nvSpPr>
          <p:cNvPr id="2" name="Text 0"/>
          <p:cNvSpPr/>
          <p:nvPr/>
        </p:nvSpPr>
        <p:spPr>
          <a:xfrm>
            <a:off x="952500" y="952500"/>
            <a:ext cx="10989260" cy="390525"/>
          </a:xfrm>
          <a:prstGeom prst="rect">
            <a:avLst/>
          </a:prstGeom>
          <a:noFill/>
          <a:ln/>
        </p:spPr>
        <p:txBody>
          <a:bodyPr wrap="square" lIns="25400" tIns="25400" rIns="25400" bIns="25400" rtlCol="0" anchor="t">
            <a:normAutofit/>
          </a:bodyPr>
          <a:lstStyle/>
          <a:p>
            <a:pPr algn="l" indent="0" marL="0">
              <a:buNone/>
            </a:pPr>
            <a:r>
              <a:rPr lang="en-US" sz="2100" spc="336" kern="0" dirty="0">
                <a:solidFill>
                  <a:srgbClr val="FF7A45"/>
                </a:solidFill>
                <a:latin typeface="Courier New" pitchFamily="34" charset="0"/>
                <a:ea typeface="Courier New" pitchFamily="34" charset="-122"/>
                <a:cs typeface="Courier New" pitchFamily="34" charset="-120"/>
              </a:rPr>
              <a:t>02 — ARCHITECTURE</a:t>
            </a:r>
            <a:endParaRPr lang="en-US" sz="2100" dirty="0"/>
          </a:p>
        </p:txBody>
      </p:sp>
      <p:sp>
        <p:nvSpPr>
          <p:cNvPr id="3" name="Text 1"/>
          <p:cNvSpPr/>
          <p:nvPr/>
        </p:nvSpPr>
        <p:spPr>
          <a:xfrm>
            <a:off x="952500" y="1476375"/>
            <a:ext cx="10989260" cy="758130"/>
          </a:xfrm>
          <a:prstGeom prst="rect">
            <a:avLst/>
          </a:prstGeom>
          <a:noFill/>
          <a:ln/>
        </p:spPr>
        <p:txBody>
          <a:bodyPr wrap="square" lIns="25400" tIns="25400" rIns="25400" bIns="25400" rtlCol="0" anchor="t">
            <a:normAutofit/>
          </a:bodyPr>
          <a:lstStyle/>
          <a:p>
            <a:pPr algn="l" indent="0" marL="0">
              <a:lnSpc>
                <a:spcPct val="92195"/>
              </a:lnSpc>
              <a:buNone/>
            </a:pPr>
            <a:r>
              <a:rPr lang="en-US" sz="5400" b="1" spc="-108" kern="0" dirty="0">
                <a:solidFill>
                  <a:srgbClr val="ECEFF2"/>
                </a:solidFill>
                <a:latin typeface="Arial" pitchFamily="34" charset="0"/>
                <a:ea typeface="Arial" pitchFamily="34" charset="-122"/>
                <a:cs typeface="Arial" pitchFamily="34" charset="-120"/>
              </a:rPr>
              <a:t>Two pipelines: ingestion and query</a:t>
            </a:r>
            <a:endParaRPr lang="en-US" sz="5400" dirty="0"/>
          </a:p>
        </p:txBody>
      </p:sp>
      <p:sp>
        <p:nvSpPr>
          <p:cNvPr id="4" name="Text 2"/>
          <p:cNvSpPr/>
          <p:nvPr/>
        </p:nvSpPr>
        <p:spPr>
          <a:xfrm>
            <a:off x="12822555" y="1076623"/>
            <a:ext cx="4512945" cy="1157883"/>
          </a:xfrm>
          <a:prstGeom prst="rect">
            <a:avLst/>
          </a:prstGeom>
          <a:noFill/>
          <a:ln/>
        </p:spPr>
        <p:txBody>
          <a:bodyPr wrap="square" lIns="25400" tIns="25400" rIns="25400" bIns="25400" rtlCol="0" anchor="t">
            <a:normAutofit/>
          </a:bodyPr>
          <a:lstStyle/>
          <a:p>
            <a:pPr algn="r" indent="0" marL="0">
              <a:lnSpc>
                <a:spcPct val="122500"/>
              </a:lnSpc>
              <a:buNone/>
            </a:pPr>
            <a:r>
              <a:rPr lang="en-US" sz="2100" dirty="0">
                <a:solidFill>
                  <a:srgbClr val="6F7D8C"/>
                </a:solidFill>
                <a:latin typeface="Arial" pitchFamily="34" charset="0"/>
                <a:ea typeface="Arial" pitchFamily="34" charset="-122"/>
                <a:cs typeface="Arial" pitchFamily="34" charset="-120"/>
              </a:rPr>
              <a:t>Java / Spring Boot services · PostgreSQL + pgvector · Redis · S3 · Kafka queue · pluggable AI providers</a:t>
            </a:r>
            <a:endParaRPr lang="en-US" sz="2100" dirty="0"/>
          </a:p>
        </p:txBody>
      </p:sp>
      <p:sp>
        <p:nvSpPr>
          <p:cNvPr id="5" name="Text 3"/>
          <p:cNvSpPr/>
          <p:nvPr/>
        </p:nvSpPr>
        <p:spPr>
          <a:xfrm>
            <a:off x="952500" y="2520255"/>
            <a:ext cx="18021300" cy="390525"/>
          </a:xfrm>
          <a:prstGeom prst="rect">
            <a:avLst/>
          </a:prstGeom>
          <a:noFill/>
          <a:ln/>
        </p:spPr>
        <p:txBody>
          <a:bodyPr wrap="square" lIns="25400" tIns="25400" rIns="25400" bIns="25400" rtlCol="0" anchor="t">
            <a:normAutofit/>
          </a:bodyPr>
          <a:lstStyle/>
          <a:p>
            <a:pPr algn="l" indent="0" marL="0">
              <a:buNone/>
            </a:pPr>
            <a:r>
              <a:rPr lang="en-US" sz="2100" spc="210" kern="0" dirty="0">
                <a:solidFill>
                  <a:srgbClr val="4FD1C5"/>
                </a:solidFill>
                <a:latin typeface="Courier New" pitchFamily="34" charset="0"/>
                <a:ea typeface="Courier New" pitchFamily="34" charset="-122"/>
                <a:cs typeface="Courier New" pitchFamily="34" charset="-120"/>
              </a:rPr>
              <a:t>INGESTION — asynchronous, cached, versioned</a:t>
            </a:r>
            <a:endParaRPr lang="en-US" sz="2100" dirty="0"/>
          </a:p>
        </p:txBody>
      </p:sp>
      <p:sp>
        <p:nvSpPr>
          <p:cNvPr id="6" name="Shape 4"/>
          <p:cNvSpPr/>
          <p:nvPr/>
        </p:nvSpPr>
        <p:spPr>
          <a:xfrm>
            <a:off x="952500" y="3082230"/>
            <a:ext cx="2782639" cy="2078236"/>
          </a:xfrm>
          <a:prstGeom prst="rect">
            <a:avLst/>
          </a:prstGeom>
          <a:solidFill>
            <a:srgbClr val="151B22"/>
          </a:solidFill>
          <a:ln w="9525">
            <a:solidFill>
              <a:srgbClr val="232C36"/>
            </a:solidFill>
            <a:prstDash val="solid"/>
          </a:ln>
        </p:spPr>
      </p:sp>
      <p:sp>
        <p:nvSpPr>
          <p:cNvPr id="7" name="Text 5"/>
          <p:cNvSpPr/>
          <p:nvPr/>
        </p:nvSpPr>
        <p:spPr>
          <a:xfrm>
            <a:off x="1171575" y="3282255"/>
            <a:ext cx="2578938"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ECEFF2"/>
                </a:solidFill>
                <a:latin typeface="Arial" pitchFamily="34" charset="0"/>
                <a:ea typeface="Arial" pitchFamily="34" charset="-122"/>
                <a:cs typeface="Arial" pitchFamily="34" charset="-120"/>
              </a:rPr>
              <a:t>Upload</a:t>
            </a:r>
            <a:endParaRPr lang="en-US" sz="2250" dirty="0"/>
          </a:p>
        </p:txBody>
      </p:sp>
      <p:sp>
        <p:nvSpPr>
          <p:cNvPr id="8" name="Text 6"/>
          <p:cNvSpPr/>
          <p:nvPr/>
        </p:nvSpPr>
        <p:spPr>
          <a:xfrm>
            <a:off x="1171575" y="3672780"/>
            <a:ext cx="2420689" cy="681930"/>
          </a:xfrm>
          <a:prstGeom prst="rect">
            <a:avLst/>
          </a:prstGeom>
          <a:noFill/>
          <a:ln/>
        </p:spPr>
        <p:txBody>
          <a:bodyPr wrap="square" lIns="25400" tIns="25400" rIns="25400" bIns="25400" rtlCol="0" anchor="t">
            <a:normAutofit/>
          </a:bodyPr>
          <a:lstStyle/>
          <a:p>
            <a:pPr algn="l" indent="0" marL="0">
              <a:lnSpc>
                <a:spcPct val="109032"/>
              </a:lnSpc>
              <a:buNone/>
            </a:pPr>
            <a:r>
              <a:rPr lang="en-US" sz="1950" dirty="0">
                <a:solidFill>
                  <a:srgbClr val="7D8B99"/>
                </a:solidFill>
                <a:latin typeface="Arial" pitchFamily="34" charset="0"/>
                <a:ea typeface="Arial" pitchFamily="34" charset="-122"/>
                <a:cs typeface="Arial" pitchFamily="34" charset="-120"/>
              </a:rPr>
              <a:t>Type, MIME and malware validation</a:t>
            </a:r>
            <a:endParaRPr lang="en-US" sz="1950" dirty="0"/>
          </a:p>
        </p:txBody>
      </p:sp>
      <p:sp>
        <p:nvSpPr>
          <p:cNvPr id="9" name="Text 7"/>
          <p:cNvSpPr/>
          <p:nvPr/>
        </p:nvSpPr>
        <p:spPr>
          <a:xfrm>
            <a:off x="3868489" y="3082230"/>
            <a:ext cx="338882" cy="2116336"/>
          </a:xfrm>
          <a:prstGeom prst="rect">
            <a:avLst/>
          </a:prstGeom>
          <a:noFill/>
          <a:ln/>
        </p:spPr>
        <p:txBody>
          <a:bodyPr wrap="square" lIns="25400" tIns="25400" rIns="25400" bIns="25400" rtlCol="0" anchor="ctr">
            <a:normAutofit/>
          </a:bodyPr>
          <a:lstStyle/>
          <a:p>
            <a:pPr algn="l" indent="0" marL="0">
              <a:buNone/>
            </a:pPr>
            <a:r>
              <a:rPr lang="en-US" sz="2250" dirty="0">
                <a:solidFill>
                  <a:srgbClr val="4A5663"/>
                </a:solidFill>
                <a:latin typeface="Arial" pitchFamily="34" charset="0"/>
                <a:ea typeface="Arial" pitchFamily="34" charset="-122"/>
                <a:cs typeface="Arial" pitchFamily="34" charset="-120"/>
              </a:rPr>
              <a:t>→</a:t>
            </a:r>
            <a:endParaRPr lang="en-US" sz="2250" dirty="0"/>
          </a:p>
        </p:txBody>
      </p:sp>
      <p:sp>
        <p:nvSpPr>
          <p:cNvPr id="10" name="Shape 8"/>
          <p:cNvSpPr/>
          <p:nvPr/>
        </p:nvSpPr>
        <p:spPr>
          <a:xfrm>
            <a:off x="4264521" y="3082230"/>
            <a:ext cx="2782788" cy="2078236"/>
          </a:xfrm>
          <a:prstGeom prst="rect">
            <a:avLst/>
          </a:prstGeom>
          <a:solidFill>
            <a:srgbClr val="151B22"/>
          </a:solidFill>
          <a:ln w="9525">
            <a:solidFill>
              <a:srgbClr val="4FD1C5"/>
            </a:solidFill>
            <a:prstDash val="solid"/>
          </a:ln>
        </p:spPr>
      </p:sp>
      <p:sp>
        <p:nvSpPr>
          <p:cNvPr id="11" name="Text 9"/>
          <p:cNvSpPr/>
          <p:nvPr/>
        </p:nvSpPr>
        <p:spPr>
          <a:xfrm>
            <a:off x="4483596" y="3282255"/>
            <a:ext cx="2579102"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4FD1C5"/>
                </a:solidFill>
                <a:latin typeface="Arial" pitchFamily="34" charset="0"/>
                <a:ea typeface="Arial" pitchFamily="34" charset="-122"/>
                <a:cs typeface="Arial" pitchFamily="34" charset="-120"/>
              </a:rPr>
              <a:t>Content hash</a:t>
            </a:r>
            <a:endParaRPr lang="en-US" sz="2250" dirty="0"/>
          </a:p>
        </p:txBody>
      </p:sp>
      <p:sp>
        <p:nvSpPr>
          <p:cNvPr id="12" name="Text 10"/>
          <p:cNvSpPr/>
          <p:nvPr/>
        </p:nvSpPr>
        <p:spPr>
          <a:xfrm>
            <a:off x="4483596" y="3672780"/>
            <a:ext cx="2420838" cy="1003846"/>
          </a:xfrm>
          <a:prstGeom prst="rect">
            <a:avLst/>
          </a:prstGeom>
          <a:noFill/>
          <a:ln/>
        </p:spPr>
        <p:txBody>
          <a:bodyPr wrap="square" lIns="25400" tIns="25400" rIns="25400" bIns="25400" rtlCol="0" anchor="t">
            <a:normAutofit/>
          </a:bodyPr>
          <a:lstStyle/>
          <a:p>
            <a:pPr algn="l" indent="0" marL="0">
              <a:lnSpc>
                <a:spcPct val="109032"/>
              </a:lnSpc>
              <a:buNone/>
            </a:pPr>
            <a:r>
              <a:rPr lang="en-US" sz="1950" dirty="0">
                <a:solidFill>
                  <a:srgbClr val="7D8B99"/>
                </a:solidFill>
                <a:latin typeface="Arial" pitchFamily="34" charset="0"/>
                <a:ea typeface="Arial" pitchFamily="34" charset="-122"/>
                <a:cs typeface="Arial" pitchFamily="34" charset="-120"/>
              </a:rPr>
              <a:t>Cache hit skips everything right of here</a:t>
            </a:r>
            <a:endParaRPr lang="en-US" sz="1950" dirty="0"/>
          </a:p>
        </p:txBody>
      </p:sp>
      <p:sp>
        <p:nvSpPr>
          <p:cNvPr id="13" name="Text 11"/>
          <p:cNvSpPr/>
          <p:nvPr/>
        </p:nvSpPr>
        <p:spPr>
          <a:xfrm>
            <a:off x="7180659" y="3082230"/>
            <a:ext cx="338882" cy="2116336"/>
          </a:xfrm>
          <a:prstGeom prst="rect">
            <a:avLst/>
          </a:prstGeom>
          <a:noFill/>
          <a:ln/>
        </p:spPr>
        <p:txBody>
          <a:bodyPr wrap="square" lIns="25400" tIns="25400" rIns="25400" bIns="25400" rtlCol="0" anchor="ctr">
            <a:normAutofit/>
          </a:bodyPr>
          <a:lstStyle/>
          <a:p>
            <a:pPr algn="l" indent="0" marL="0">
              <a:buNone/>
            </a:pPr>
            <a:r>
              <a:rPr lang="en-US" sz="2250" dirty="0">
                <a:solidFill>
                  <a:srgbClr val="4A5663"/>
                </a:solidFill>
                <a:latin typeface="Arial" pitchFamily="34" charset="0"/>
                <a:ea typeface="Arial" pitchFamily="34" charset="-122"/>
                <a:cs typeface="Arial" pitchFamily="34" charset="-120"/>
              </a:rPr>
              <a:t>→</a:t>
            </a:r>
            <a:endParaRPr lang="en-US" sz="2250" dirty="0"/>
          </a:p>
        </p:txBody>
      </p:sp>
      <p:sp>
        <p:nvSpPr>
          <p:cNvPr id="14" name="Shape 12"/>
          <p:cNvSpPr/>
          <p:nvPr/>
        </p:nvSpPr>
        <p:spPr>
          <a:xfrm>
            <a:off x="7576691" y="3082230"/>
            <a:ext cx="3134469" cy="2078236"/>
          </a:xfrm>
          <a:prstGeom prst="rect">
            <a:avLst/>
          </a:prstGeom>
          <a:solidFill>
            <a:srgbClr val="151B22"/>
          </a:solidFill>
          <a:ln w="9525">
            <a:solidFill>
              <a:srgbClr val="232C36"/>
            </a:solidFill>
            <a:prstDash val="solid"/>
          </a:ln>
        </p:spPr>
      </p:sp>
      <p:sp>
        <p:nvSpPr>
          <p:cNvPr id="15" name="Text 13"/>
          <p:cNvSpPr/>
          <p:nvPr/>
        </p:nvSpPr>
        <p:spPr>
          <a:xfrm>
            <a:off x="7795766" y="3282255"/>
            <a:ext cx="2965951"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ECEFF2"/>
                </a:solidFill>
                <a:latin typeface="Arial" pitchFamily="34" charset="0"/>
                <a:ea typeface="Arial" pitchFamily="34" charset="-122"/>
                <a:cs typeface="Arial" pitchFamily="34" charset="-120"/>
              </a:rPr>
              <a:t>Extract</a:t>
            </a:r>
            <a:endParaRPr lang="en-US" sz="2250" dirty="0"/>
          </a:p>
        </p:txBody>
      </p:sp>
      <p:sp>
        <p:nvSpPr>
          <p:cNvPr id="16" name="Text 14"/>
          <p:cNvSpPr/>
          <p:nvPr/>
        </p:nvSpPr>
        <p:spPr>
          <a:xfrm>
            <a:off x="7795766" y="3672780"/>
            <a:ext cx="2777209" cy="681930"/>
          </a:xfrm>
          <a:prstGeom prst="rect">
            <a:avLst/>
          </a:prstGeom>
          <a:noFill/>
          <a:ln/>
        </p:spPr>
        <p:txBody>
          <a:bodyPr wrap="square" lIns="25400" tIns="25400" rIns="25400" bIns="25400" rtlCol="0" anchor="t">
            <a:normAutofit/>
          </a:bodyPr>
          <a:lstStyle/>
          <a:p>
            <a:pPr algn="l" indent="0" marL="0">
              <a:lnSpc>
                <a:spcPct val="109032"/>
              </a:lnSpc>
              <a:buNone/>
            </a:pPr>
            <a:r>
              <a:rPr lang="en-US" sz="1950" dirty="0">
                <a:solidFill>
                  <a:srgbClr val="7D8B99"/>
                </a:solidFill>
                <a:latin typeface="Arial" pitchFamily="34" charset="0"/>
                <a:ea typeface="Arial" pitchFamily="34" charset="-122"/>
                <a:cs typeface="Arial" pitchFamily="34" charset="-120"/>
              </a:rPr>
              <a:t>Parsers · OCR · speech-to-text · key-frame vision</a:t>
            </a:r>
            <a:endParaRPr lang="en-US" sz="1950" dirty="0"/>
          </a:p>
        </p:txBody>
      </p:sp>
      <p:sp>
        <p:nvSpPr>
          <p:cNvPr id="17" name="Text 15"/>
          <p:cNvSpPr/>
          <p:nvPr/>
        </p:nvSpPr>
        <p:spPr>
          <a:xfrm>
            <a:off x="10844510" y="3082230"/>
            <a:ext cx="338882" cy="2116336"/>
          </a:xfrm>
          <a:prstGeom prst="rect">
            <a:avLst/>
          </a:prstGeom>
          <a:noFill/>
          <a:ln/>
        </p:spPr>
        <p:txBody>
          <a:bodyPr wrap="square" lIns="25400" tIns="25400" rIns="25400" bIns="25400" rtlCol="0" anchor="ctr">
            <a:normAutofit/>
          </a:bodyPr>
          <a:lstStyle/>
          <a:p>
            <a:pPr algn="l" indent="0" marL="0">
              <a:buNone/>
            </a:pPr>
            <a:r>
              <a:rPr lang="en-US" sz="2250" dirty="0">
                <a:solidFill>
                  <a:srgbClr val="4A5663"/>
                </a:solidFill>
                <a:latin typeface="Arial" pitchFamily="34" charset="0"/>
                <a:ea typeface="Arial" pitchFamily="34" charset="-122"/>
                <a:cs typeface="Arial" pitchFamily="34" charset="-120"/>
              </a:rPr>
              <a:t>→</a:t>
            </a:r>
            <a:endParaRPr lang="en-US" sz="2250" dirty="0"/>
          </a:p>
        </p:txBody>
      </p:sp>
      <p:sp>
        <p:nvSpPr>
          <p:cNvPr id="18" name="Shape 16"/>
          <p:cNvSpPr/>
          <p:nvPr/>
        </p:nvSpPr>
        <p:spPr>
          <a:xfrm>
            <a:off x="11240542" y="3082230"/>
            <a:ext cx="2782788" cy="2078236"/>
          </a:xfrm>
          <a:prstGeom prst="rect">
            <a:avLst/>
          </a:prstGeom>
          <a:solidFill>
            <a:srgbClr val="151B22"/>
          </a:solidFill>
          <a:ln w="9525">
            <a:solidFill>
              <a:srgbClr val="232C36"/>
            </a:solidFill>
            <a:prstDash val="solid"/>
          </a:ln>
        </p:spPr>
      </p:sp>
      <p:sp>
        <p:nvSpPr>
          <p:cNvPr id="19" name="Text 17"/>
          <p:cNvSpPr/>
          <p:nvPr/>
        </p:nvSpPr>
        <p:spPr>
          <a:xfrm>
            <a:off x="11459617" y="3282255"/>
            <a:ext cx="2579102"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ECEFF2"/>
                </a:solidFill>
                <a:latin typeface="Arial" pitchFamily="34" charset="0"/>
                <a:ea typeface="Arial" pitchFamily="34" charset="-122"/>
                <a:cs typeface="Arial" pitchFamily="34" charset="-120"/>
              </a:rPr>
              <a:t>Chunk</a:t>
            </a:r>
            <a:endParaRPr lang="en-US" sz="2250" dirty="0"/>
          </a:p>
        </p:txBody>
      </p:sp>
      <p:sp>
        <p:nvSpPr>
          <p:cNvPr id="20" name="Text 18"/>
          <p:cNvSpPr/>
          <p:nvPr/>
        </p:nvSpPr>
        <p:spPr>
          <a:xfrm>
            <a:off x="11459617" y="3672780"/>
            <a:ext cx="2420838" cy="1325761"/>
          </a:xfrm>
          <a:prstGeom prst="rect">
            <a:avLst/>
          </a:prstGeom>
          <a:noFill/>
          <a:ln/>
        </p:spPr>
        <p:txBody>
          <a:bodyPr wrap="square" lIns="25400" tIns="25400" rIns="25400" bIns="25400" rtlCol="0" anchor="t">
            <a:normAutofit/>
          </a:bodyPr>
          <a:lstStyle/>
          <a:p>
            <a:pPr algn="l" indent="0" marL="0">
              <a:lnSpc>
                <a:spcPct val="109032"/>
              </a:lnSpc>
              <a:buNone/>
            </a:pPr>
            <a:r>
              <a:rPr lang="en-US" sz="1950" dirty="0">
                <a:solidFill>
                  <a:srgbClr val="7D8B99"/>
                </a:solidFill>
                <a:latin typeface="Arial" pitchFamily="34" charset="0"/>
                <a:ea typeface="Arial" pitchFamily="34" charset="-122"/>
                <a:cs typeface="Arial" pitchFamily="34" charset="-120"/>
              </a:rPr>
              <a:t>Structure-aware, 400–800 tokens, page &amp; timestamp kept</a:t>
            </a:r>
            <a:endParaRPr lang="en-US" sz="1950" dirty="0"/>
          </a:p>
        </p:txBody>
      </p:sp>
      <p:sp>
        <p:nvSpPr>
          <p:cNvPr id="21" name="Text 19"/>
          <p:cNvSpPr/>
          <p:nvPr/>
        </p:nvSpPr>
        <p:spPr>
          <a:xfrm>
            <a:off x="14156680" y="3082230"/>
            <a:ext cx="338882" cy="2116336"/>
          </a:xfrm>
          <a:prstGeom prst="rect">
            <a:avLst/>
          </a:prstGeom>
          <a:noFill/>
          <a:ln/>
        </p:spPr>
        <p:txBody>
          <a:bodyPr wrap="square" lIns="25400" tIns="25400" rIns="25400" bIns="25400" rtlCol="0" anchor="ctr">
            <a:normAutofit/>
          </a:bodyPr>
          <a:lstStyle/>
          <a:p>
            <a:pPr algn="l" indent="0" marL="0">
              <a:buNone/>
            </a:pPr>
            <a:r>
              <a:rPr lang="en-US" sz="2250" dirty="0">
                <a:solidFill>
                  <a:srgbClr val="4A5663"/>
                </a:solidFill>
                <a:latin typeface="Arial" pitchFamily="34" charset="0"/>
                <a:ea typeface="Arial" pitchFamily="34" charset="-122"/>
                <a:cs typeface="Arial" pitchFamily="34" charset="-120"/>
              </a:rPr>
              <a:t>→</a:t>
            </a:r>
            <a:endParaRPr lang="en-US" sz="2250" dirty="0"/>
          </a:p>
        </p:txBody>
      </p:sp>
      <p:sp>
        <p:nvSpPr>
          <p:cNvPr id="22" name="Shape 20"/>
          <p:cNvSpPr/>
          <p:nvPr/>
        </p:nvSpPr>
        <p:spPr>
          <a:xfrm>
            <a:off x="14552712" y="3082230"/>
            <a:ext cx="2782788" cy="2078236"/>
          </a:xfrm>
          <a:prstGeom prst="rect">
            <a:avLst/>
          </a:prstGeom>
          <a:solidFill>
            <a:srgbClr val="151B22"/>
          </a:solidFill>
          <a:ln w="9525">
            <a:solidFill>
              <a:srgbClr val="232C36"/>
            </a:solidFill>
            <a:prstDash val="solid"/>
          </a:ln>
        </p:spPr>
      </p:sp>
      <p:sp>
        <p:nvSpPr>
          <p:cNvPr id="23" name="Text 21"/>
          <p:cNvSpPr/>
          <p:nvPr/>
        </p:nvSpPr>
        <p:spPr>
          <a:xfrm>
            <a:off x="14771787" y="3282255"/>
            <a:ext cx="2579102"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ECEFF2"/>
                </a:solidFill>
                <a:latin typeface="Arial" pitchFamily="34" charset="0"/>
                <a:ea typeface="Arial" pitchFamily="34" charset="-122"/>
                <a:cs typeface="Arial" pitchFamily="34" charset="-120"/>
              </a:rPr>
              <a:t>Index</a:t>
            </a:r>
            <a:endParaRPr lang="en-US" sz="2250" dirty="0"/>
          </a:p>
        </p:txBody>
      </p:sp>
      <p:sp>
        <p:nvSpPr>
          <p:cNvPr id="24" name="Text 22"/>
          <p:cNvSpPr/>
          <p:nvPr/>
        </p:nvSpPr>
        <p:spPr>
          <a:xfrm>
            <a:off x="14771787" y="3672780"/>
            <a:ext cx="2420838" cy="681930"/>
          </a:xfrm>
          <a:prstGeom prst="rect">
            <a:avLst/>
          </a:prstGeom>
          <a:noFill/>
          <a:ln/>
        </p:spPr>
        <p:txBody>
          <a:bodyPr wrap="square" lIns="25400" tIns="25400" rIns="25400" bIns="25400" rtlCol="0" anchor="t">
            <a:normAutofit/>
          </a:bodyPr>
          <a:lstStyle/>
          <a:p>
            <a:pPr algn="l" indent="0" marL="0">
              <a:lnSpc>
                <a:spcPct val="109032"/>
              </a:lnSpc>
              <a:buNone/>
            </a:pPr>
            <a:r>
              <a:rPr lang="en-US" sz="1950" dirty="0">
                <a:solidFill>
                  <a:srgbClr val="7D8B99"/>
                </a:solidFill>
                <a:latin typeface="Arial" pitchFamily="34" charset="0"/>
                <a:ea typeface="Arial" pitchFamily="34" charset="-122"/>
                <a:cs typeface="Arial" pitchFamily="34" charset="-120"/>
              </a:rPr>
              <a:t>Embeddings + BM25 keyword index</a:t>
            </a:r>
            <a:endParaRPr lang="en-US" sz="1950" dirty="0"/>
          </a:p>
        </p:txBody>
      </p:sp>
      <p:sp>
        <p:nvSpPr>
          <p:cNvPr id="25" name="Text 23"/>
          <p:cNvSpPr/>
          <p:nvPr/>
        </p:nvSpPr>
        <p:spPr>
          <a:xfrm>
            <a:off x="952500" y="5484316"/>
            <a:ext cx="18021300" cy="390525"/>
          </a:xfrm>
          <a:prstGeom prst="rect">
            <a:avLst/>
          </a:prstGeom>
          <a:noFill/>
          <a:ln/>
        </p:spPr>
        <p:txBody>
          <a:bodyPr wrap="square" lIns="25400" tIns="25400" rIns="25400" bIns="25400" rtlCol="0" anchor="t">
            <a:normAutofit/>
          </a:bodyPr>
          <a:lstStyle/>
          <a:p>
            <a:pPr algn="l" indent="0" marL="0">
              <a:buNone/>
            </a:pPr>
            <a:r>
              <a:rPr lang="en-US" sz="2100" spc="210" kern="0" dirty="0">
                <a:solidFill>
                  <a:srgbClr val="FF7A45"/>
                </a:solidFill>
                <a:latin typeface="Courier New" pitchFamily="34" charset="0"/>
                <a:ea typeface="Courier New" pitchFamily="34" charset="-122"/>
                <a:cs typeface="Courier New" pitchFamily="34" charset="-120"/>
              </a:rPr>
              <a:t>QUERY — retrieve, narrow, verify, then generate</a:t>
            </a:r>
            <a:endParaRPr lang="en-US" sz="2100" dirty="0"/>
          </a:p>
        </p:txBody>
      </p:sp>
      <p:sp>
        <p:nvSpPr>
          <p:cNvPr id="26" name="Shape 24"/>
          <p:cNvSpPr/>
          <p:nvPr/>
        </p:nvSpPr>
        <p:spPr>
          <a:xfrm>
            <a:off x="952500" y="6046291"/>
            <a:ext cx="2782788" cy="1767780"/>
          </a:xfrm>
          <a:prstGeom prst="rect">
            <a:avLst/>
          </a:prstGeom>
          <a:solidFill>
            <a:srgbClr val="151B22"/>
          </a:solidFill>
          <a:ln w="9525">
            <a:solidFill>
              <a:srgbClr val="232C36"/>
            </a:solidFill>
            <a:prstDash val="solid"/>
          </a:ln>
        </p:spPr>
      </p:sp>
      <p:sp>
        <p:nvSpPr>
          <p:cNvPr id="27" name="Text 25"/>
          <p:cNvSpPr/>
          <p:nvPr/>
        </p:nvSpPr>
        <p:spPr>
          <a:xfrm>
            <a:off x="1171575" y="6246316"/>
            <a:ext cx="2579102"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ECEFF2"/>
                </a:solidFill>
                <a:latin typeface="Arial" pitchFamily="34" charset="0"/>
                <a:ea typeface="Arial" pitchFamily="34" charset="-122"/>
                <a:cs typeface="Arial" pitchFamily="34" charset="-120"/>
              </a:rPr>
              <a:t>Question</a:t>
            </a:r>
            <a:endParaRPr lang="en-US" sz="2250" dirty="0"/>
          </a:p>
        </p:txBody>
      </p:sp>
      <p:sp>
        <p:nvSpPr>
          <p:cNvPr id="28" name="Text 26"/>
          <p:cNvSpPr/>
          <p:nvPr/>
        </p:nvSpPr>
        <p:spPr>
          <a:xfrm>
            <a:off x="1171575" y="6636841"/>
            <a:ext cx="2420838" cy="1003846"/>
          </a:xfrm>
          <a:prstGeom prst="rect">
            <a:avLst/>
          </a:prstGeom>
          <a:noFill/>
          <a:ln/>
        </p:spPr>
        <p:txBody>
          <a:bodyPr wrap="square" lIns="25400" tIns="25400" rIns="25400" bIns="25400" rtlCol="0" anchor="t">
            <a:normAutofit/>
          </a:bodyPr>
          <a:lstStyle/>
          <a:p>
            <a:pPr algn="l" indent="0" marL="0">
              <a:lnSpc>
                <a:spcPct val="109032"/>
              </a:lnSpc>
              <a:buNone/>
            </a:pPr>
            <a:r>
              <a:rPr lang="en-US" sz="1950" dirty="0">
                <a:solidFill>
                  <a:srgbClr val="7D8B99"/>
                </a:solidFill>
                <a:latin typeface="Arial" pitchFamily="34" charset="0"/>
                <a:ea typeface="Arial" pitchFamily="34" charset="-122"/>
                <a:cs typeface="Arial" pitchFamily="34" charset="-120"/>
              </a:rPr>
              <a:t>Scoped to the session's own documents</a:t>
            </a:r>
            <a:endParaRPr lang="en-US" sz="1950" dirty="0"/>
          </a:p>
        </p:txBody>
      </p:sp>
      <p:sp>
        <p:nvSpPr>
          <p:cNvPr id="29" name="Text 27"/>
          <p:cNvSpPr/>
          <p:nvPr/>
        </p:nvSpPr>
        <p:spPr>
          <a:xfrm>
            <a:off x="3868638" y="6046291"/>
            <a:ext cx="338882" cy="1805880"/>
          </a:xfrm>
          <a:prstGeom prst="rect">
            <a:avLst/>
          </a:prstGeom>
          <a:noFill/>
          <a:ln/>
        </p:spPr>
        <p:txBody>
          <a:bodyPr wrap="square" lIns="25400" tIns="25400" rIns="25400" bIns="25400" rtlCol="0" anchor="ctr">
            <a:normAutofit/>
          </a:bodyPr>
          <a:lstStyle/>
          <a:p>
            <a:pPr algn="l" indent="0" marL="0">
              <a:buNone/>
            </a:pPr>
            <a:r>
              <a:rPr lang="en-US" sz="2250" dirty="0">
                <a:solidFill>
                  <a:srgbClr val="4A5663"/>
                </a:solidFill>
                <a:latin typeface="Arial" pitchFamily="34" charset="0"/>
                <a:ea typeface="Arial" pitchFamily="34" charset="-122"/>
                <a:cs typeface="Arial" pitchFamily="34" charset="-120"/>
              </a:rPr>
              <a:t>→</a:t>
            </a:r>
            <a:endParaRPr lang="en-US" sz="2250" dirty="0"/>
          </a:p>
        </p:txBody>
      </p:sp>
      <p:sp>
        <p:nvSpPr>
          <p:cNvPr id="30" name="Shape 28"/>
          <p:cNvSpPr/>
          <p:nvPr/>
        </p:nvSpPr>
        <p:spPr>
          <a:xfrm>
            <a:off x="4264670" y="6046291"/>
            <a:ext cx="3017193" cy="1767780"/>
          </a:xfrm>
          <a:prstGeom prst="rect">
            <a:avLst/>
          </a:prstGeom>
          <a:solidFill>
            <a:srgbClr val="151B22"/>
          </a:solidFill>
          <a:ln w="9525">
            <a:solidFill>
              <a:srgbClr val="232C36"/>
            </a:solidFill>
            <a:prstDash val="solid"/>
          </a:ln>
        </p:spPr>
      </p:sp>
      <p:sp>
        <p:nvSpPr>
          <p:cNvPr id="31" name="Text 29"/>
          <p:cNvSpPr/>
          <p:nvPr/>
        </p:nvSpPr>
        <p:spPr>
          <a:xfrm>
            <a:off x="4483745" y="6246316"/>
            <a:ext cx="2836947"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ECEFF2"/>
                </a:solidFill>
                <a:latin typeface="Arial" pitchFamily="34" charset="0"/>
                <a:ea typeface="Arial" pitchFamily="34" charset="-122"/>
                <a:cs typeface="Arial" pitchFamily="34" charset="-120"/>
              </a:rPr>
              <a:t>Hybrid retrieval</a:t>
            </a:r>
            <a:endParaRPr lang="en-US" sz="2250" dirty="0"/>
          </a:p>
        </p:txBody>
      </p:sp>
      <p:sp>
        <p:nvSpPr>
          <p:cNvPr id="32" name="Text 30"/>
          <p:cNvSpPr/>
          <p:nvPr/>
        </p:nvSpPr>
        <p:spPr>
          <a:xfrm>
            <a:off x="4483745" y="6636841"/>
            <a:ext cx="2656414" cy="1003846"/>
          </a:xfrm>
          <a:prstGeom prst="rect">
            <a:avLst/>
          </a:prstGeom>
          <a:noFill/>
          <a:ln/>
        </p:spPr>
        <p:txBody>
          <a:bodyPr wrap="square" lIns="25400" tIns="25400" rIns="25400" bIns="25400" rtlCol="0" anchor="t">
            <a:normAutofit/>
          </a:bodyPr>
          <a:lstStyle/>
          <a:p>
            <a:pPr algn="l" indent="0" marL="0">
              <a:lnSpc>
                <a:spcPct val="109032"/>
              </a:lnSpc>
              <a:buNone/>
            </a:pPr>
            <a:r>
              <a:rPr lang="en-US" sz="1950" dirty="0">
                <a:solidFill>
                  <a:srgbClr val="7D8B99"/>
                </a:solidFill>
                <a:latin typeface="Arial" pitchFamily="34" charset="0"/>
                <a:ea typeface="Arial" pitchFamily="34" charset="-122"/>
                <a:cs typeface="Arial" pitchFamily="34" charset="-120"/>
              </a:rPr>
              <a:t>Vector meaning + exact terms → 20–50 candidates</a:t>
            </a:r>
            <a:endParaRPr lang="en-US" sz="1950" dirty="0"/>
          </a:p>
        </p:txBody>
      </p:sp>
      <p:sp>
        <p:nvSpPr>
          <p:cNvPr id="33" name="Text 31"/>
          <p:cNvSpPr/>
          <p:nvPr/>
        </p:nvSpPr>
        <p:spPr>
          <a:xfrm>
            <a:off x="7415213" y="6046291"/>
            <a:ext cx="338882" cy="1805880"/>
          </a:xfrm>
          <a:prstGeom prst="rect">
            <a:avLst/>
          </a:prstGeom>
          <a:noFill/>
          <a:ln/>
        </p:spPr>
        <p:txBody>
          <a:bodyPr wrap="square" lIns="25400" tIns="25400" rIns="25400" bIns="25400" rtlCol="0" anchor="ctr">
            <a:normAutofit/>
          </a:bodyPr>
          <a:lstStyle/>
          <a:p>
            <a:pPr algn="l" indent="0" marL="0">
              <a:buNone/>
            </a:pPr>
            <a:r>
              <a:rPr lang="en-US" sz="2250" dirty="0">
                <a:solidFill>
                  <a:srgbClr val="4A5663"/>
                </a:solidFill>
                <a:latin typeface="Arial" pitchFamily="34" charset="0"/>
                <a:ea typeface="Arial" pitchFamily="34" charset="-122"/>
                <a:cs typeface="Arial" pitchFamily="34" charset="-120"/>
              </a:rPr>
              <a:t>→</a:t>
            </a:r>
            <a:endParaRPr lang="en-US" sz="2250" dirty="0"/>
          </a:p>
        </p:txBody>
      </p:sp>
      <p:sp>
        <p:nvSpPr>
          <p:cNvPr id="34" name="Shape 32"/>
          <p:cNvSpPr/>
          <p:nvPr/>
        </p:nvSpPr>
        <p:spPr>
          <a:xfrm>
            <a:off x="7811244" y="6046291"/>
            <a:ext cx="2782788" cy="1767780"/>
          </a:xfrm>
          <a:prstGeom prst="rect">
            <a:avLst/>
          </a:prstGeom>
          <a:solidFill>
            <a:srgbClr val="151B22"/>
          </a:solidFill>
          <a:ln w="9525">
            <a:solidFill>
              <a:srgbClr val="232C36"/>
            </a:solidFill>
            <a:prstDash val="solid"/>
          </a:ln>
        </p:spPr>
      </p:sp>
      <p:sp>
        <p:nvSpPr>
          <p:cNvPr id="35" name="Text 33"/>
          <p:cNvSpPr/>
          <p:nvPr/>
        </p:nvSpPr>
        <p:spPr>
          <a:xfrm>
            <a:off x="8030319" y="6246316"/>
            <a:ext cx="2579102"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ECEFF2"/>
                </a:solidFill>
                <a:latin typeface="Arial" pitchFamily="34" charset="0"/>
                <a:ea typeface="Arial" pitchFamily="34" charset="-122"/>
                <a:cs typeface="Arial" pitchFamily="34" charset="-120"/>
              </a:rPr>
              <a:t>Rerank</a:t>
            </a:r>
            <a:endParaRPr lang="en-US" sz="2250" dirty="0"/>
          </a:p>
        </p:txBody>
      </p:sp>
      <p:sp>
        <p:nvSpPr>
          <p:cNvPr id="36" name="Text 34"/>
          <p:cNvSpPr/>
          <p:nvPr/>
        </p:nvSpPr>
        <p:spPr>
          <a:xfrm>
            <a:off x="8030319" y="6636841"/>
            <a:ext cx="2420838" cy="681930"/>
          </a:xfrm>
          <a:prstGeom prst="rect">
            <a:avLst/>
          </a:prstGeom>
          <a:noFill/>
          <a:ln/>
        </p:spPr>
        <p:txBody>
          <a:bodyPr wrap="square" lIns="25400" tIns="25400" rIns="25400" bIns="25400" rtlCol="0" anchor="t">
            <a:normAutofit/>
          </a:bodyPr>
          <a:lstStyle/>
          <a:p>
            <a:pPr algn="l" indent="0" marL="0">
              <a:lnSpc>
                <a:spcPct val="109032"/>
              </a:lnSpc>
              <a:buNone/>
            </a:pPr>
            <a:r>
              <a:rPr lang="en-US" sz="1950" dirty="0">
                <a:solidFill>
                  <a:srgbClr val="7D8B99"/>
                </a:solidFill>
                <a:latin typeface="Arial" pitchFamily="34" charset="0"/>
                <a:ea typeface="Arial" pitchFamily="34" charset="-122"/>
                <a:cs typeface="Arial" pitchFamily="34" charset="-120"/>
              </a:rPr>
              <a:t>Down to the 5–8 strongest passages</a:t>
            </a:r>
            <a:endParaRPr lang="en-US" sz="1950" dirty="0"/>
          </a:p>
        </p:txBody>
      </p:sp>
      <p:sp>
        <p:nvSpPr>
          <p:cNvPr id="37" name="Text 35"/>
          <p:cNvSpPr/>
          <p:nvPr/>
        </p:nvSpPr>
        <p:spPr>
          <a:xfrm>
            <a:off x="10727382" y="6046291"/>
            <a:ext cx="338882" cy="1805880"/>
          </a:xfrm>
          <a:prstGeom prst="rect">
            <a:avLst/>
          </a:prstGeom>
          <a:noFill/>
          <a:ln/>
        </p:spPr>
        <p:txBody>
          <a:bodyPr wrap="square" lIns="25400" tIns="25400" rIns="25400" bIns="25400" rtlCol="0" anchor="ctr">
            <a:normAutofit/>
          </a:bodyPr>
          <a:lstStyle/>
          <a:p>
            <a:pPr algn="l" indent="0" marL="0">
              <a:buNone/>
            </a:pPr>
            <a:r>
              <a:rPr lang="en-US" sz="2250" dirty="0">
                <a:solidFill>
                  <a:srgbClr val="4A5663"/>
                </a:solidFill>
                <a:latin typeface="Arial" pitchFamily="34" charset="0"/>
                <a:ea typeface="Arial" pitchFamily="34" charset="-122"/>
                <a:cs typeface="Arial" pitchFamily="34" charset="-120"/>
              </a:rPr>
              <a:t>→</a:t>
            </a:r>
            <a:endParaRPr lang="en-US" sz="2250" dirty="0"/>
          </a:p>
        </p:txBody>
      </p:sp>
      <p:sp>
        <p:nvSpPr>
          <p:cNvPr id="38" name="Shape 36"/>
          <p:cNvSpPr/>
          <p:nvPr/>
        </p:nvSpPr>
        <p:spPr>
          <a:xfrm>
            <a:off x="11123414" y="6046291"/>
            <a:ext cx="2899916" cy="1767780"/>
          </a:xfrm>
          <a:prstGeom prst="rect">
            <a:avLst/>
          </a:prstGeom>
          <a:solidFill>
            <a:srgbClr val="151B22"/>
          </a:solidFill>
          <a:ln w="9525">
            <a:solidFill>
              <a:srgbClr val="FF7A45"/>
            </a:solidFill>
            <a:prstDash val="solid"/>
          </a:ln>
        </p:spPr>
      </p:sp>
      <p:sp>
        <p:nvSpPr>
          <p:cNvPr id="39" name="Text 37"/>
          <p:cNvSpPr/>
          <p:nvPr/>
        </p:nvSpPr>
        <p:spPr>
          <a:xfrm>
            <a:off x="11342489" y="6246316"/>
            <a:ext cx="2707943"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FF7A45"/>
                </a:solidFill>
                <a:latin typeface="Arial" pitchFamily="34" charset="0"/>
                <a:ea typeface="Arial" pitchFamily="34" charset="-122"/>
                <a:cs typeface="Arial" pitchFamily="34" charset="-120"/>
              </a:rPr>
              <a:t>Evidence gate</a:t>
            </a:r>
            <a:endParaRPr lang="en-US" sz="2250" dirty="0"/>
          </a:p>
        </p:txBody>
      </p:sp>
      <p:sp>
        <p:nvSpPr>
          <p:cNvPr id="40" name="Text 38"/>
          <p:cNvSpPr/>
          <p:nvPr/>
        </p:nvSpPr>
        <p:spPr>
          <a:xfrm>
            <a:off x="11342489" y="6636841"/>
            <a:ext cx="2537966" cy="681930"/>
          </a:xfrm>
          <a:prstGeom prst="rect">
            <a:avLst/>
          </a:prstGeom>
          <a:noFill/>
          <a:ln/>
        </p:spPr>
        <p:txBody>
          <a:bodyPr wrap="square" lIns="25400" tIns="25400" rIns="25400" bIns="25400" rtlCol="0" anchor="t">
            <a:normAutofit/>
          </a:bodyPr>
          <a:lstStyle/>
          <a:p>
            <a:pPr algn="l" indent="0" marL="0">
              <a:lnSpc>
                <a:spcPct val="109032"/>
              </a:lnSpc>
              <a:buNone/>
            </a:pPr>
            <a:r>
              <a:rPr lang="en-US" sz="1950" dirty="0">
                <a:solidFill>
                  <a:srgbClr val="7D8B99"/>
                </a:solidFill>
                <a:latin typeface="Arial" pitchFamily="34" charset="0"/>
                <a:ea typeface="Arial" pitchFamily="34" charset="-122"/>
                <a:cs typeface="Arial" pitchFamily="34" charset="-120"/>
              </a:rPr>
              <a:t>Insufficient evidence → refuse, no model call</a:t>
            </a:r>
            <a:endParaRPr lang="en-US" sz="1950" dirty="0"/>
          </a:p>
        </p:txBody>
      </p:sp>
      <p:sp>
        <p:nvSpPr>
          <p:cNvPr id="41" name="Text 39"/>
          <p:cNvSpPr/>
          <p:nvPr/>
        </p:nvSpPr>
        <p:spPr>
          <a:xfrm>
            <a:off x="14156680" y="6046291"/>
            <a:ext cx="338882" cy="1805880"/>
          </a:xfrm>
          <a:prstGeom prst="rect">
            <a:avLst/>
          </a:prstGeom>
          <a:noFill/>
          <a:ln/>
        </p:spPr>
        <p:txBody>
          <a:bodyPr wrap="square" lIns="25400" tIns="25400" rIns="25400" bIns="25400" rtlCol="0" anchor="ctr">
            <a:normAutofit/>
          </a:bodyPr>
          <a:lstStyle/>
          <a:p>
            <a:pPr algn="l" indent="0" marL="0">
              <a:buNone/>
            </a:pPr>
            <a:r>
              <a:rPr lang="en-US" sz="2250" dirty="0">
                <a:solidFill>
                  <a:srgbClr val="4A5663"/>
                </a:solidFill>
                <a:latin typeface="Arial" pitchFamily="34" charset="0"/>
                <a:ea typeface="Arial" pitchFamily="34" charset="-122"/>
                <a:cs typeface="Arial" pitchFamily="34" charset="-120"/>
              </a:rPr>
              <a:t>→</a:t>
            </a:r>
            <a:endParaRPr lang="en-US" sz="2250" dirty="0"/>
          </a:p>
        </p:txBody>
      </p:sp>
      <p:sp>
        <p:nvSpPr>
          <p:cNvPr id="42" name="Shape 40"/>
          <p:cNvSpPr/>
          <p:nvPr/>
        </p:nvSpPr>
        <p:spPr>
          <a:xfrm>
            <a:off x="14552712" y="6046291"/>
            <a:ext cx="2782788" cy="1767780"/>
          </a:xfrm>
          <a:prstGeom prst="rect">
            <a:avLst/>
          </a:prstGeom>
          <a:solidFill>
            <a:srgbClr val="151B22"/>
          </a:solidFill>
          <a:ln w="9525">
            <a:solidFill>
              <a:srgbClr val="232C36"/>
            </a:solidFill>
            <a:prstDash val="solid"/>
          </a:ln>
        </p:spPr>
      </p:sp>
      <p:sp>
        <p:nvSpPr>
          <p:cNvPr id="43" name="Text 41"/>
          <p:cNvSpPr/>
          <p:nvPr/>
        </p:nvSpPr>
        <p:spPr>
          <a:xfrm>
            <a:off x="14771787" y="6246316"/>
            <a:ext cx="2420838" cy="704850"/>
          </a:xfrm>
          <a:prstGeom prst="rect">
            <a:avLst/>
          </a:prstGeom>
          <a:noFill/>
          <a:ln/>
        </p:spPr>
        <p:txBody>
          <a:bodyPr wrap="square" lIns="25400" tIns="25400" rIns="25400" bIns="25400" rtlCol="0" anchor="t">
            <a:normAutofit/>
          </a:bodyPr>
          <a:lstStyle/>
          <a:p>
            <a:pPr algn="l" indent="0" marL="0">
              <a:buNone/>
            </a:pPr>
            <a:r>
              <a:rPr lang="en-US" sz="2250" b="1" dirty="0">
                <a:solidFill>
                  <a:srgbClr val="ECEFF2"/>
                </a:solidFill>
                <a:latin typeface="Arial" pitchFamily="34" charset="0"/>
                <a:ea typeface="Arial" pitchFamily="34" charset="-122"/>
                <a:cs typeface="Arial" pitchFamily="34" charset="-120"/>
              </a:rPr>
              <a:t>LLM + citation check</a:t>
            </a:r>
            <a:endParaRPr lang="en-US" sz="2250" dirty="0"/>
          </a:p>
        </p:txBody>
      </p:sp>
      <p:sp>
        <p:nvSpPr>
          <p:cNvPr id="44" name="Text 42"/>
          <p:cNvSpPr/>
          <p:nvPr/>
        </p:nvSpPr>
        <p:spPr>
          <a:xfrm>
            <a:off x="14771787" y="6970216"/>
            <a:ext cx="2420838" cy="681930"/>
          </a:xfrm>
          <a:prstGeom prst="rect">
            <a:avLst/>
          </a:prstGeom>
          <a:noFill/>
          <a:ln/>
        </p:spPr>
        <p:txBody>
          <a:bodyPr wrap="square" lIns="25400" tIns="25400" rIns="25400" bIns="25400" rtlCol="0" anchor="t">
            <a:normAutofit/>
          </a:bodyPr>
          <a:lstStyle/>
          <a:p>
            <a:pPr algn="l" indent="0" marL="0">
              <a:lnSpc>
                <a:spcPct val="109032"/>
              </a:lnSpc>
              <a:buNone/>
            </a:pPr>
            <a:r>
              <a:rPr lang="en-US" sz="1950" dirty="0">
                <a:solidFill>
                  <a:srgbClr val="7D8B99"/>
                </a:solidFill>
                <a:latin typeface="Arial" pitchFamily="34" charset="0"/>
                <a:ea typeface="Arial" pitchFamily="34" charset="-122"/>
                <a:cs typeface="Arial" pitchFamily="34" charset="-120"/>
              </a:rPr>
              <a:t>Answer with page, section or timestamp</a:t>
            </a:r>
            <a:endParaRPr lang="en-US" sz="1950" dirty="0"/>
          </a:p>
        </p:txBody>
      </p:sp>
      <p:sp>
        <p:nvSpPr>
          <p:cNvPr id="45" name="Shape 43"/>
          <p:cNvSpPr/>
          <p:nvPr/>
        </p:nvSpPr>
        <p:spPr>
          <a:xfrm>
            <a:off x="952500" y="8429625"/>
            <a:ext cx="16383000" cy="9525"/>
          </a:xfrm>
          <a:prstGeom prst="rect">
            <a:avLst/>
          </a:prstGeom>
          <a:solidFill>
            <a:srgbClr val="222A33"/>
          </a:solidFill>
          <a:ln/>
        </p:spPr>
      </p:sp>
      <p:sp>
        <p:nvSpPr>
          <p:cNvPr id="46" name="Text 44"/>
          <p:cNvSpPr/>
          <p:nvPr/>
        </p:nvSpPr>
        <p:spPr>
          <a:xfrm>
            <a:off x="952500" y="8686800"/>
            <a:ext cx="4128135" cy="533400"/>
          </a:xfrm>
          <a:prstGeom prst="rect">
            <a:avLst/>
          </a:prstGeom>
          <a:noFill/>
          <a:ln/>
        </p:spPr>
        <p:txBody>
          <a:bodyPr wrap="square" lIns="25400" tIns="25400" rIns="25400" bIns="25400" rtlCol="0" anchor="t">
            <a:normAutofit/>
          </a:bodyPr>
          <a:lstStyle/>
          <a:p>
            <a:pPr algn="l" indent="0" marL="0">
              <a:buNone/>
            </a:pPr>
            <a:r>
              <a:rPr lang="en-US" sz="3450" b="1" dirty="0">
                <a:solidFill>
                  <a:srgbClr val="4FD1C5"/>
                </a:solidFill>
                <a:latin typeface="Courier New" pitchFamily="34" charset="0"/>
                <a:ea typeface="Courier New" pitchFamily="34" charset="-122"/>
                <a:cs typeface="Courier New" pitchFamily="34" charset="-120"/>
              </a:rPr>
              <a:t>2–5s</a:t>
            </a:r>
            <a:endParaRPr lang="en-US" sz="3450" dirty="0"/>
          </a:p>
        </p:txBody>
      </p:sp>
      <p:sp>
        <p:nvSpPr>
          <p:cNvPr id="47" name="Text 45"/>
          <p:cNvSpPr/>
          <p:nvPr/>
        </p:nvSpPr>
        <p:spPr>
          <a:xfrm>
            <a:off x="952500" y="9239250"/>
            <a:ext cx="4128135" cy="323850"/>
          </a:xfrm>
          <a:prstGeom prst="rect">
            <a:avLst/>
          </a:prstGeom>
          <a:noFill/>
          <a:ln/>
        </p:spPr>
        <p:txBody>
          <a:bodyPr wrap="square" lIns="25400" tIns="25400" rIns="25400" bIns="25400" rtlCol="0" anchor="t">
            <a:normAutofit/>
          </a:bodyPr>
          <a:lstStyle/>
          <a:p>
            <a:pPr algn="l" indent="0" marL="0">
              <a:buNone/>
            </a:pPr>
            <a:r>
              <a:rPr lang="en-US" sz="1950" dirty="0">
                <a:solidFill>
                  <a:srgbClr val="7D8B99"/>
                </a:solidFill>
                <a:latin typeface="Arial" pitchFamily="34" charset="0"/>
                <a:ea typeface="Arial" pitchFamily="34" charset="-122"/>
                <a:cs typeface="Arial" pitchFamily="34" charset="-120"/>
              </a:rPr>
              <a:t>End-to-end answer</a:t>
            </a:r>
            <a:endParaRPr lang="en-US" sz="1950" dirty="0"/>
          </a:p>
        </p:txBody>
      </p:sp>
      <p:sp>
        <p:nvSpPr>
          <p:cNvPr id="48" name="Text 46"/>
          <p:cNvSpPr/>
          <p:nvPr/>
        </p:nvSpPr>
        <p:spPr>
          <a:xfrm>
            <a:off x="5162550" y="8686800"/>
            <a:ext cx="4128135" cy="533400"/>
          </a:xfrm>
          <a:prstGeom prst="rect">
            <a:avLst/>
          </a:prstGeom>
          <a:noFill/>
          <a:ln/>
        </p:spPr>
        <p:txBody>
          <a:bodyPr wrap="square" lIns="25400" tIns="25400" rIns="25400" bIns="25400" rtlCol="0" anchor="t">
            <a:normAutofit/>
          </a:bodyPr>
          <a:lstStyle/>
          <a:p>
            <a:pPr algn="l" indent="0" marL="0">
              <a:buNone/>
            </a:pPr>
            <a:r>
              <a:rPr lang="en-US" sz="3450" b="1" dirty="0">
                <a:solidFill>
                  <a:srgbClr val="4FD1C5"/>
                </a:solidFill>
                <a:latin typeface="Courier New" pitchFamily="34" charset="0"/>
                <a:ea typeface="Courier New" pitchFamily="34" charset="-122"/>
                <a:cs typeface="Courier New" pitchFamily="34" charset="-120"/>
              </a:rPr>
              <a:t>&lt;500ms</a:t>
            </a:r>
            <a:endParaRPr lang="en-US" sz="3450" dirty="0"/>
          </a:p>
        </p:txBody>
      </p:sp>
      <p:sp>
        <p:nvSpPr>
          <p:cNvPr id="49" name="Text 47"/>
          <p:cNvSpPr/>
          <p:nvPr/>
        </p:nvSpPr>
        <p:spPr>
          <a:xfrm>
            <a:off x="5162550" y="9239250"/>
            <a:ext cx="4128135" cy="323850"/>
          </a:xfrm>
          <a:prstGeom prst="rect">
            <a:avLst/>
          </a:prstGeom>
          <a:noFill/>
          <a:ln/>
        </p:spPr>
        <p:txBody>
          <a:bodyPr wrap="square" lIns="25400" tIns="25400" rIns="25400" bIns="25400" rtlCol="0" anchor="t">
            <a:normAutofit/>
          </a:bodyPr>
          <a:lstStyle/>
          <a:p>
            <a:pPr algn="l" indent="0" marL="0">
              <a:buNone/>
            </a:pPr>
            <a:r>
              <a:rPr lang="en-US" sz="1950" dirty="0">
                <a:solidFill>
                  <a:srgbClr val="7D8B99"/>
                </a:solidFill>
                <a:latin typeface="Arial" pitchFamily="34" charset="0"/>
                <a:ea typeface="Arial" pitchFamily="34" charset="-122"/>
                <a:cs typeface="Arial" pitchFamily="34" charset="-120"/>
              </a:rPr>
              <a:t>Retrieval</a:t>
            </a:r>
            <a:endParaRPr lang="en-US" sz="1950" dirty="0"/>
          </a:p>
        </p:txBody>
      </p:sp>
      <p:sp>
        <p:nvSpPr>
          <p:cNvPr id="50" name="Text 48"/>
          <p:cNvSpPr/>
          <p:nvPr/>
        </p:nvSpPr>
        <p:spPr>
          <a:xfrm>
            <a:off x="9372600" y="8686800"/>
            <a:ext cx="4128135" cy="533400"/>
          </a:xfrm>
          <a:prstGeom prst="rect">
            <a:avLst/>
          </a:prstGeom>
          <a:noFill/>
          <a:ln/>
        </p:spPr>
        <p:txBody>
          <a:bodyPr wrap="square" lIns="25400" tIns="25400" rIns="25400" bIns="25400" rtlCol="0" anchor="t">
            <a:normAutofit/>
          </a:bodyPr>
          <a:lstStyle/>
          <a:p>
            <a:pPr algn="l" indent="0" marL="0">
              <a:buNone/>
            </a:pPr>
            <a:r>
              <a:rPr lang="en-US" sz="3450" b="1" dirty="0">
                <a:solidFill>
                  <a:srgbClr val="4FD1C5"/>
                </a:solidFill>
                <a:latin typeface="Courier New" pitchFamily="34" charset="0"/>
                <a:ea typeface="Courier New" pitchFamily="34" charset="-122"/>
                <a:cs typeface="Courier New" pitchFamily="34" charset="-120"/>
              </a:rPr>
              <a:t>5–8</a:t>
            </a:r>
            <a:endParaRPr lang="en-US" sz="3450" dirty="0"/>
          </a:p>
        </p:txBody>
      </p:sp>
      <p:sp>
        <p:nvSpPr>
          <p:cNvPr id="51" name="Text 49"/>
          <p:cNvSpPr/>
          <p:nvPr/>
        </p:nvSpPr>
        <p:spPr>
          <a:xfrm>
            <a:off x="9372600" y="9239250"/>
            <a:ext cx="4128135" cy="323850"/>
          </a:xfrm>
          <a:prstGeom prst="rect">
            <a:avLst/>
          </a:prstGeom>
          <a:noFill/>
          <a:ln/>
        </p:spPr>
        <p:txBody>
          <a:bodyPr wrap="square" lIns="25400" tIns="25400" rIns="25400" bIns="25400" rtlCol="0" anchor="t">
            <a:normAutofit/>
          </a:bodyPr>
          <a:lstStyle/>
          <a:p>
            <a:pPr algn="l" indent="0" marL="0">
              <a:buNone/>
            </a:pPr>
            <a:r>
              <a:rPr lang="en-US" sz="1950" dirty="0">
                <a:solidFill>
                  <a:srgbClr val="7D8B99"/>
                </a:solidFill>
                <a:latin typeface="Arial" pitchFamily="34" charset="0"/>
                <a:ea typeface="Arial" pitchFamily="34" charset="-122"/>
                <a:cs typeface="Arial" pitchFamily="34" charset="-120"/>
              </a:rPr>
              <a:t>Chunks sent to the model</a:t>
            </a:r>
            <a:endParaRPr lang="en-US" sz="1950" dirty="0"/>
          </a:p>
        </p:txBody>
      </p:sp>
      <p:sp>
        <p:nvSpPr>
          <p:cNvPr id="52" name="Text 50"/>
          <p:cNvSpPr/>
          <p:nvPr/>
        </p:nvSpPr>
        <p:spPr>
          <a:xfrm>
            <a:off x="13582650" y="8686800"/>
            <a:ext cx="4128135" cy="533400"/>
          </a:xfrm>
          <a:prstGeom prst="rect">
            <a:avLst/>
          </a:prstGeom>
          <a:noFill/>
          <a:ln/>
        </p:spPr>
        <p:txBody>
          <a:bodyPr wrap="square" lIns="25400" tIns="25400" rIns="25400" bIns="25400" rtlCol="0" anchor="t">
            <a:normAutofit/>
          </a:bodyPr>
          <a:lstStyle/>
          <a:p>
            <a:pPr algn="l" indent="0" marL="0">
              <a:buNone/>
            </a:pPr>
            <a:r>
              <a:rPr lang="en-US" sz="3450" b="1" dirty="0">
                <a:solidFill>
                  <a:srgbClr val="4FD1C5"/>
                </a:solidFill>
                <a:latin typeface="Courier New" pitchFamily="34" charset="0"/>
                <a:ea typeface="Courier New" pitchFamily="34" charset="-122"/>
                <a:cs typeface="Courier New" pitchFamily="34" charset="-120"/>
              </a:rPr>
              <a:t>99.9%</a:t>
            </a:r>
            <a:endParaRPr lang="en-US" sz="3450" dirty="0"/>
          </a:p>
        </p:txBody>
      </p:sp>
      <p:sp>
        <p:nvSpPr>
          <p:cNvPr id="53" name="Text 51"/>
          <p:cNvSpPr/>
          <p:nvPr/>
        </p:nvSpPr>
        <p:spPr>
          <a:xfrm>
            <a:off x="13582650" y="9239250"/>
            <a:ext cx="4128135" cy="323850"/>
          </a:xfrm>
          <a:prstGeom prst="rect">
            <a:avLst/>
          </a:prstGeom>
          <a:noFill/>
          <a:ln/>
        </p:spPr>
        <p:txBody>
          <a:bodyPr wrap="square" lIns="25400" tIns="25400" rIns="25400" bIns="25400" rtlCol="0" anchor="t">
            <a:normAutofit/>
          </a:bodyPr>
          <a:lstStyle/>
          <a:p>
            <a:pPr algn="l" indent="0" marL="0">
              <a:buNone/>
            </a:pPr>
            <a:r>
              <a:rPr lang="en-US" sz="1950" dirty="0">
                <a:solidFill>
                  <a:srgbClr val="7D8B99"/>
                </a:solidFill>
                <a:latin typeface="Arial" pitchFamily="34" charset="0"/>
                <a:ea typeface="Arial" pitchFamily="34" charset="-122"/>
                <a:cs typeface="Arial" pitchFamily="34" charset="-120"/>
              </a:rPr>
              <a:t>Target availability</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952500" y="952500"/>
            <a:ext cx="18021300" cy="390525"/>
          </a:xfrm>
          <a:prstGeom prst="rect">
            <a:avLst/>
          </a:prstGeom>
          <a:noFill/>
          <a:ln/>
        </p:spPr>
        <p:txBody>
          <a:bodyPr wrap="square" lIns="25400" tIns="25400" rIns="25400" bIns="25400" rtlCol="0" anchor="t">
            <a:normAutofit/>
          </a:bodyPr>
          <a:lstStyle/>
          <a:p>
            <a:pPr algn="l" indent="0" marL="0">
              <a:buNone/>
            </a:pPr>
            <a:r>
              <a:rPr lang="en-US" sz="2100" spc="336" kern="0" dirty="0">
                <a:solidFill>
                  <a:srgbClr val="C2410C"/>
                </a:solidFill>
                <a:latin typeface="Courier New" pitchFamily="34" charset="0"/>
                <a:ea typeface="Courier New" pitchFamily="34" charset="-122"/>
                <a:cs typeface="Courier New" pitchFamily="34" charset="-120"/>
              </a:rPr>
              <a:t>03 — ECONOMICS &amp; TRUST</a:t>
            </a:r>
            <a:endParaRPr lang="en-US" sz="2100" dirty="0"/>
          </a:p>
        </p:txBody>
      </p:sp>
      <p:sp>
        <p:nvSpPr>
          <p:cNvPr id="3" name="Text 1"/>
          <p:cNvSpPr/>
          <p:nvPr/>
        </p:nvSpPr>
        <p:spPr>
          <a:xfrm>
            <a:off x="952500" y="1476375"/>
            <a:ext cx="18021300" cy="758130"/>
          </a:xfrm>
          <a:prstGeom prst="rect">
            <a:avLst/>
          </a:prstGeom>
          <a:noFill/>
          <a:ln/>
        </p:spPr>
        <p:txBody>
          <a:bodyPr wrap="square" lIns="25400" tIns="25400" rIns="25400" bIns="25400" rtlCol="0" anchor="t">
            <a:normAutofit/>
          </a:bodyPr>
          <a:lstStyle/>
          <a:p>
            <a:pPr algn="l" indent="0" marL="0">
              <a:lnSpc>
                <a:spcPct val="92195"/>
              </a:lnSpc>
              <a:buNone/>
            </a:pPr>
            <a:r>
              <a:rPr lang="en-US" sz="5400" b="1" spc="-108" kern="0" dirty="0">
                <a:solidFill>
                  <a:srgbClr val="14181D"/>
                </a:solidFill>
                <a:latin typeface="Arial" pitchFamily="34" charset="0"/>
                <a:ea typeface="Arial" pitchFamily="34" charset="-122"/>
                <a:cs typeface="Arial" pitchFamily="34" charset="-120"/>
              </a:rPr>
              <a:t>Cost control and data deletion are built in</a:t>
            </a:r>
            <a:endParaRPr lang="en-US" sz="5400" dirty="0"/>
          </a:p>
        </p:txBody>
      </p:sp>
      <p:sp>
        <p:nvSpPr>
          <p:cNvPr id="4" name="Text 2"/>
          <p:cNvSpPr/>
          <p:nvPr/>
        </p:nvSpPr>
        <p:spPr>
          <a:xfrm>
            <a:off x="952500" y="2691705"/>
            <a:ext cx="8591550" cy="371475"/>
          </a:xfrm>
          <a:prstGeom prst="rect">
            <a:avLst/>
          </a:prstGeom>
          <a:noFill/>
          <a:ln/>
        </p:spPr>
        <p:txBody>
          <a:bodyPr wrap="square" lIns="25400" tIns="25400" rIns="25400" bIns="25400" rtlCol="0" anchor="t">
            <a:normAutofit/>
          </a:bodyPr>
          <a:lstStyle/>
          <a:p>
            <a:pPr algn="l" indent="0" marL="0">
              <a:buNone/>
            </a:pPr>
            <a:r>
              <a:rPr lang="en-US" sz="2250" b="1" spc="135" kern="0" dirty="0">
                <a:solidFill>
                  <a:srgbClr val="6B7280"/>
                </a:solidFill>
                <a:latin typeface="Arial" pitchFamily="34" charset="0"/>
                <a:ea typeface="Arial" pitchFamily="34" charset="-122"/>
                <a:cs typeface="Arial" pitchFamily="34" charset="-120"/>
              </a:rPr>
              <a:t>FIVE LAYERS OF COST CONTROL</a:t>
            </a:r>
            <a:endParaRPr lang="en-US" sz="2250" dirty="0"/>
          </a:p>
        </p:txBody>
      </p:sp>
      <p:sp>
        <p:nvSpPr>
          <p:cNvPr id="5" name="Shape 3"/>
          <p:cNvSpPr/>
          <p:nvPr/>
        </p:nvSpPr>
        <p:spPr>
          <a:xfrm>
            <a:off x="952500" y="3272730"/>
            <a:ext cx="7810500" cy="1162050"/>
          </a:xfrm>
          <a:prstGeom prst="rect">
            <a:avLst/>
          </a:prstGeom>
          <a:solidFill>
            <a:srgbClr val="14181D"/>
          </a:solidFill>
          <a:ln/>
        </p:spPr>
      </p:sp>
      <p:sp>
        <p:nvSpPr>
          <p:cNvPr id="6" name="Text 4"/>
          <p:cNvSpPr/>
          <p:nvPr/>
        </p:nvSpPr>
        <p:spPr>
          <a:xfrm>
            <a:off x="1200150" y="3520380"/>
            <a:ext cx="37341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FF7A45"/>
                </a:solidFill>
                <a:latin typeface="Courier New" pitchFamily="34" charset="0"/>
                <a:ea typeface="Courier New" pitchFamily="34" charset="-122"/>
                <a:cs typeface="Courier New" pitchFamily="34" charset="-120"/>
              </a:rPr>
              <a:t>01</a:t>
            </a:r>
            <a:endParaRPr lang="en-US" sz="1950" dirty="0"/>
          </a:p>
        </p:txBody>
      </p:sp>
      <p:sp>
        <p:nvSpPr>
          <p:cNvPr id="7" name="Text 5"/>
          <p:cNvSpPr/>
          <p:nvPr/>
        </p:nvSpPr>
        <p:spPr>
          <a:xfrm>
            <a:off x="1725960" y="3482280"/>
            <a:ext cx="6993072" cy="781050"/>
          </a:xfrm>
          <a:prstGeom prst="rect">
            <a:avLst/>
          </a:prstGeom>
          <a:noFill/>
          <a:ln/>
        </p:spPr>
        <p:txBody>
          <a:bodyPr wrap="square" lIns="25400" tIns="25400" rIns="25400" bIns="25400" rtlCol="0" anchor="t">
            <a:normAutofit/>
          </a:bodyPr>
          <a:lstStyle/>
          <a:p>
            <a:pPr algn="l" indent="0" marL="0">
              <a:lnSpc>
                <a:spcPct val="114706"/>
              </a:lnSpc>
              <a:buNone/>
            </a:pPr>
            <a:r>
              <a:rPr lang="en-US" sz="2250" dirty="0">
                <a:solidFill>
                  <a:srgbClr val="F5F2EC"/>
                </a:solidFill>
                <a:latin typeface="Arial" pitchFamily="34" charset="0"/>
                <a:ea typeface="Arial" pitchFamily="34" charset="-122"/>
                <a:cs typeface="Arial" pitchFamily="34" charset="-120"/>
              </a:rPr>
              <a:t>Processing cache — never OCR, transcribe or embed the same content twice</a:t>
            </a:r>
            <a:endParaRPr lang="en-US" sz="2250" dirty="0"/>
          </a:p>
        </p:txBody>
      </p:sp>
      <p:sp>
        <p:nvSpPr>
          <p:cNvPr id="8" name="Shape 6"/>
          <p:cNvSpPr/>
          <p:nvPr/>
        </p:nvSpPr>
        <p:spPr>
          <a:xfrm>
            <a:off x="952500" y="4549080"/>
            <a:ext cx="7810500" cy="1181100"/>
          </a:xfrm>
          <a:prstGeom prst="rect">
            <a:avLst/>
          </a:prstGeom>
          <a:solidFill>
            <a:srgbClr val="FFFFFF"/>
          </a:solidFill>
          <a:ln w="9525">
            <a:solidFill>
              <a:srgbClr val="DED8CC"/>
            </a:solidFill>
            <a:prstDash val="solid"/>
          </a:ln>
        </p:spPr>
      </p:sp>
      <p:sp>
        <p:nvSpPr>
          <p:cNvPr id="9" name="Text 7"/>
          <p:cNvSpPr/>
          <p:nvPr/>
        </p:nvSpPr>
        <p:spPr>
          <a:xfrm>
            <a:off x="1209675" y="4806255"/>
            <a:ext cx="37341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C2410C"/>
                </a:solidFill>
                <a:latin typeface="Courier New" pitchFamily="34" charset="0"/>
                <a:ea typeface="Courier New" pitchFamily="34" charset="-122"/>
                <a:cs typeface="Courier New" pitchFamily="34" charset="-120"/>
              </a:rPr>
              <a:t>02</a:t>
            </a:r>
            <a:endParaRPr lang="en-US" sz="1950" dirty="0"/>
          </a:p>
        </p:txBody>
      </p:sp>
      <p:sp>
        <p:nvSpPr>
          <p:cNvPr id="10" name="Text 8"/>
          <p:cNvSpPr/>
          <p:nvPr/>
        </p:nvSpPr>
        <p:spPr>
          <a:xfrm>
            <a:off x="1735485" y="4768155"/>
            <a:ext cx="6973450" cy="781050"/>
          </a:xfrm>
          <a:prstGeom prst="rect">
            <a:avLst/>
          </a:prstGeom>
          <a:noFill/>
          <a:ln/>
        </p:spPr>
        <p:txBody>
          <a:bodyPr wrap="square" lIns="25400" tIns="25400" rIns="25400" bIns="25400" rtlCol="0" anchor="t">
            <a:normAutofit/>
          </a:bodyPr>
          <a:lstStyle/>
          <a:p>
            <a:pPr algn="l" indent="0" marL="0">
              <a:lnSpc>
                <a:spcPct val="114706"/>
              </a:lnSpc>
              <a:buNone/>
            </a:pPr>
            <a:r>
              <a:rPr lang="en-US" sz="2250" dirty="0">
                <a:solidFill>
                  <a:srgbClr val="14181D"/>
                </a:solidFill>
                <a:latin typeface="Arial" pitchFamily="34" charset="0"/>
                <a:ea typeface="Arial" pitchFamily="34" charset="-122"/>
                <a:cs typeface="Arial" pitchFamily="34" charset="-120"/>
              </a:rPr>
              <a:t>Answer cache — repeated questions return a stored grounded answer</a:t>
            </a:r>
            <a:endParaRPr lang="en-US" sz="2250" dirty="0"/>
          </a:p>
        </p:txBody>
      </p:sp>
      <p:sp>
        <p:nvSpPr>
          <p:cNvPr id="11" name="Shape 9"/>
          <p:cNvSpPr/>
          <p:nvPr/>
        </p:nvSpPr>
        <p:spPr>
          <a:xfrm>
            <a:off x="952500" y="5844480"/>
            <a:ext cx="7810500" cy="1181100"/>
          </a:xfrm>
          <a:prstGeom prst="rect">
            <a:avLst/>
          </a:prstGeom>
          <a:solidFill>
            <a:srgbClr val="FFFFFF"/>
          </a:solidFill>
          <a:ln w="9525">
            <a:solidFill>
              <a:srgbClr val="DED8CC"/>
            </a:solidFill>
            <a:prstDash val="solid"/>
          </a:ln>
        </p:spPr>
      </p:sp>
      <p:sp>
        <p:nvSpPr>
          <p:cNvPr id="12" name="Text 10"/>
          <p:cNvSpPr/>
          <p:nvPr/>
        </p:nvSpPr>
        <p:spPr>
          <a:xfrm>
            <a:off x="1209675" y="6101655"/>
            <a:ext cx="37341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C2410C"/>
                </a:solidFill>
                <a:latin typeface="Courier New" pitchFamily="34" charset="0"/>
                <a:ea typeface="Courier New" pitchFamily="34" charset="-122"/>
                <a:cs typeface="Courier New" pitchFamily="34" charset="-120"/>
              </a:rPr>
              <a:t>03</a:t>
            </a:r>
            <a:endParaRPr lang="en-US" sz="1950" dirty="0"/>
          </a:p>
        </p:txBody>
      </p:sp>
      <p:sp>
        <p:nvSpPr>
          <p:cNvPr id="13" name="Text 11"/>
          <p:cNvSpPr/>
          <p:nvPr/>
        </p:nvSpPr>
        <p:spPr>
          <a:xfrm>
            <a:off x="1735485" y="6063555"/>
            <a:ext cx="6973450" cy="781050"/>
          </a:xfrm>
          <a:prstGeom prst="rect">
            <a:avLst/>
          </a:prstGeom>
          <a:noFill/>
          <a:ln/>
        </p:spPr>
        <p:txBody>
          <a:bodyPr wrap="square" lIns="25400" tIns="25400" rIns="25400" bIns="25400" rtlCol="0" anchor="t">
            <a:normAutofit/>
          </a:bodyPr>
          <a:lstStyle/>
          <a:p>
            <a:pPr algn="l" indent="0" marL="0">
              <a:lnSpc>
                <a:spcPct val="114706"/>
              </a:lnSpc>
              <a:buNone/>
            </a:pPr>
            <a:r>
              <a:rPr lang="en-US" sz="2250" dirty="0">
                <a:solidFill>
                  <a:srgbClr val="14181D"/>
                </a:solidFill>
                <a:latin typeface="Arial" pitchFamily="34" charset="0"/>
                <a:ea typeface="Arial" pitchFamily="34" charset="-122"/>
                <a:cs typeface="Arial" pitchFamily="34" charset="-120"/>
              </a:rPr>
              <a:t>Context compression — only the useful part of each passage is sent</a:t>
            </a:r>
            <a:endParaRPr lang="en-US" sz="2250" dirty="0"/>
          </a:p>
        </p:txBody>
      </p:sp>
      <p:sp>
        <p:nvSpPr>
          <p:cNvPr id="14" name="Shape 12"/>
          <p:cNvSpPr/>
          <p:nvPr/>
        </p:nvSpPr>
        <p:spPr>
          <a:xfrm>
            <a:off x="952500" y="7139880"/>
            <a:ext cx="7810500" cy="1181100"/>
          </a:xfrm>
          <a:prstGeom prst="rect">
            <a:avLst/>
          </a:prstGeom>
          <a:solidFill>
            <a:srgbClr val="FFFFFF"/>
          </a:solidFill>
          <a:ln w="9525">
            <a:solidFill>
              <a:srgbClr val="DED8CC"/>
            </a:solidFill>
            <a:prstDash val="solid"/>
          </a:ln>
        </p:spPr>
      </p:sp>
      <p:sp>
        <p:nvSpPr>
          <p:cNvPr id="15" name="Text 13"/>
          <p:cNvSpPr/>
          <p:nvPr/>
        </p:nvSpPr>
        <p:spPr>
          <a:xfrm>
            <a:off x="1209675" y="7397055"/>
            <a:ext cx="37341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C2410C"/>
                </a:solidFill>
                <a:latin typeface="Courier New" pitchFamily="34" charset="0"/>
                <a:ea typeface="Courier New" pitchFamily="34" charset="-122"/>
                <a:cs typeface="Courier New" pitchFamily="34" charset="-120"/>
              </a:rPr>
              <a:t>04</a:t>
            </a:r>
            <a:endParaRPr lang="en-US" sz="1950" dirty="0"/>
          </a:p>
        </p:txBody>
      </p:sp>
      <p:sp>
        <p:nvSpPr>
          <p:cNvPr id="16" name="Text 14"/>
          <p:cNvSpPr/>
          <p:nvPr/>
        </p:nvSpPr>
        <p:spPr>
          <a:xfrm>
            <a:off x="1735485" y="7358955"/>
            <a:ext cx="6973450" cy="781050"/>
          </a:xfrm>
          <a:prstGeom prst="rect">
            <a:avLst/>
          </a:prstGeom>
          <a:noFill/>
          <a:ln/>
        </p:spPr>
        <p:txBody>
          <a:bodyPr wrap="square" lIns="25400" tIns="25400" rIns="25400" bIns="25400" rtlCol="0" anchor="t">
            <a:normAutofit/>
          </a:bodyPr>
          <a:lstStyle/>
          <a:p>
            <a:pPr algn="l" indent="0" marL="0">
              <a:lnSpc>
                <a:spcPct val="114706"/>
              </a:lnSpc>
              <a:buNone/>
            </a:pPr>
            <a:r>
              <a:rPr lang="en-US" sz="2250" dirty="0">
                <a:solidFill>
                  <a:srgbClr val="14181D"/>
                </a:solidFill>
                <a:latin typeface="Arial" pitchFamily="34" charset="0"/>
                <a:ea typeface="Arial" pitchFamily="34" charset="-122"/>
                <a:cs typeface="Arial" pitchFamily="34" charset="-120"/>
              </a:rPr>
              <a:t>Model routing — cheap models for the routine steps, strong model for the answer</a:t>
            </a:r>
            <a:endParaRPr lang="en-US" sz="2250" dirty="0"/>
          </a:p>
        </p:txBody>
      </p:sp>
      <p:sp>
        <p:nvSpPr>
          <p:cNvPr id="17" name="Shape 15"/>
          <p:cNvSpPr/>
          <p:nvPr/>
        </p:nvSpPr>
        <p:spPr>
          <a:xfrm>
            <a:off x="952500" y="8435280"/>
            <a:ext cx="7810500" cy="1181100"/>
          </a:xfrm>
          <a:prstGeom prst="rect">
            <a:avLst/>
          </a:prstGeom>
          <a:solidFill>
            <a:srgbClr val="FFFFFF"/>
          </a:solidFill>
          <a:ln w="9525">
            <a:solidFill>
              <a:srgbClr val="DED8CC"/>
            </a:solidFill>
            <a:prstDash val="solid"/>
          </a:ln>
        </p:spPr>
      </p:sp>
      <p:sp>
        <p:nvSpPr>
          <p:cNvPr id="18" name="Text 16"/>
          <p:cNvSpPr/>
          <p:nvPr/>
        </p:nvSpPr>
        <p:spPr>
          <a:xfrm>
            <a:off x="1209675" y="8692455"/>
            <a:ext cx="37341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C2410C"/>
                </a:solidFill>
                <a:latin typeface="Courier New" pitchFamily="34" charset="0"/>
                <a:ea typeface="Courier New" pitchFamily="34" charset="-122"/>
                <a:cs typeface="Courier New" pitchFamily="34" charset="-120"/>
              </a:rPr>
              <a:t>05</a:t>
            </a:r>
            <a:endParaRPr lang="en-US" sz="1950" dirty="0"/>
          </a:p>
        </p:txBody>
      </p:sp>
      <p:sp>
        <p:nvSpPr>
          <p:cNvPr id="19" name="Text 17"/>
          <p:cNvSpPr/>
          <p:nvPr/>
        </p:nvSpPr>
        <p:spPr>
          <a:xfrm>
            <a:off x="1735485" y="8654355"/>
            <a:ext cx="6973450" cy="781050"/>
          </a:xfrm>
          <a:prstGeom prst="rect">
            <a:avLst/>
          </a:prstGeom>
          <a:noFill/>
          <a:ln/>
        </p:spPr>
        <p:txBody>
          <a:bodyPr wrap="square" lIns="25400" tIns="25400" rIns="25400" bIns="25400" rtlCol="0" anchor="t">
            <a:normAutofit/>
          </a:bodyPr>
          <a:lstStyle/>
          <a:p>
            <a:pPr algn="l" indent="0" marL="0">
              <a:lnSpc>
                <a:spcPct val="114706"/>
              </a:lnSpc>
              <a:buNone/>
            </a:pPr>
            <a:r>
              <a:rPr lang="en-US" sz="2250" dirty="0">
                <a:solidFill>
                  <a:srgbClr val="14181D"/>
                </a:solidFill>
                <a:latin typeface="Arial" pitchFamily="34" charset="0"/>
                <a:ea typeface="Arial" pitchFamily="34" charset="-122"/>
                <a:cs typeface="Arial" pitchFamily="34" charset="-120"/>
              </a:rPr>
              <a:t>Hard limits — file size, duration, tokens, jobs and monthly AI budget</a:t>
            </a:r>
            <a:endParaRPr lang="en-US" sz="2250" dirty="0"/>
          </a:p>
        </p:txBody>
      </p:sp>
      <p:sp>
        <p:nvSpPr>
          <p:cNvPr id="20" name="Text 18"/>
          <p:cNvSpPr/>
          <p:nvPr/>
        </p:nvSpPr>
        <p:spPr>
          <a:xfrm>
            <a:off x="9525000" y="2691705"/>
            <a:ext cx="8591550" cy="371475"/>
          </a:xfrm>
          <a:prstGeom prst="rect">
            <a:avLst/>
          </a:prstGeom>
          <a:noFill/>
          <a:ln/>
        </p:spPr>
        <p:txBody>
          <a:bodyPr wrap="square" lIns="25400" tIns="25400" rIns="25400" bIns="25400" rtlCol="0" anchor="t">
            <a:normAutofit/>
          </a:bodyPr>
          <a:lstStyle/>
          <a:p>
            <a:pPr algn="l" indent="0" marL="0">
              <a:buNone/>
            </a:pPr>
            <a:r>
              <a:rPr lang="en-US" sz="2250" b="1" spc="135" kern="0" dirty="0">
                <a:solidFill>
                  <a:srgbClr val="6B7280"/>
                </a:solidFill>
                <a:latin typeface="Arial" pitchFamily="34" charset="0"/>
                <a:ea typeface="Arial" pitchFamily="34" charset="-122"/>
                <a:cs typeface="Arial" pitchFamily="34" charset="-120"/>
              </a:rPr>
              <a:t>WHAT HAPPENS AT LOGOUT</a:t>
            </a:r>
            <a:endParaRPr lang="en-US" sz="2250" dirty="0"/>
          </a:p>
        </p:txBody>
      </p:sp>
      <p:sp>
        <p:nvSpPr>
          <p:cNvPr id="21" name="Text 19"/>
          <p:cNvSpPr/>
          <p:nvPr/>
        </p:nvSpPr>
        <p:spPr>
          <a:xfrm>
            <a:off x="9525000" y="3234630"/>
            <a:ext cx="247650" cy="409575"/>
          </a:xfrm>
          <a:prstGeom prst="rect">
            <a:avLst/>
          </a:prstGeom>
          <a:noFill/>
          <a:ln/>
        </p:spPr>
        <p:txBody>
          <a:bodyPr wrap="square" lIns="25400" tIns="25400" rIns="25400" bIns="25400" rtlCol="0" anchor="t">
            <a:normAutofit/>
          </a:bodyPr>
          <a:lstStyle/>
          <a:p>
            <a:pPr algn="l" indent="0" marL="0">
              <a:buNone/>
            </a:pPr>
            <a:r>
              <a:rPr lang="en-US" sz="2250" dirty="0">
                <a:solidFill>
                  <a:srgbClr val="C2410C"/>
                </a:solidFill>
                <a:latin typeface="Courier New" pitchFamily="34" charset="0"/>
                <a:ea typeface="Courier New" pitchFamily="34" charset="-122"/>
                <a:cs typeface="Courier New" pitchFamily="34" charset="-120"/>
              </a:rPr>
              <a:t>×</a:t>
            </a:r>
            <a:endParaRPr lang="en-US" sz="2250" dirty="0"/>
          </a:p>
        </p:txBody>
      </p:sp>
      <p:sp>
        <p:nvSpPr>
          <p:cNvPr id="22" name="Text 20"/>
          <p:cNvSpPr/>
          <p:nvPr/>
        </p:nvSpPr>
        <p:spPr>
          <a:xfrm>
            <a:off x="9886950" y="3234630"/>
            <a:ext cx="4436075" cy="400050"/>
          </a:xfrm>
          <a:prstGeom prst="rect">
            <a:avLst/>
          </a:prstGeom>
          <a:noFill/>
          <a:ln/>
        </p:spPr>
        <p:txBody>
          <a:bodyPr wrap="square" lIns="25400" tIns="25400" rIns="25400" bIns="25400" rtlCol="0" anchor="t">
            <a:normAutofit/>
          </a:bodyPr>
          <a:lstStyle/>
          <a:p>
            <a:pPr algn="l" indent="0" marL="0">
              <a:buNone/>
            </a:pPr>
            <a:r>
              <a:rPr lang="en-US" sz="2400" dirty="0">
                <a:solidFill>
                  <a:srgbClr val="14181D"/>
                </a:solidFill>
                <a:latin typeface="Arial" pitchFamily="34" charset="0"/>
                <a:ea typeface="Arial" pitchFamily="34" charset="-122"/>
                <a:cs typeface="Arial" pitchFamily="34" charset="-120"/>
              </a:rPr>
              <a:t>Original files and extracted text</a:t>
            </a:r>
            <a:endParaRPr lang="en-US" sz="2400" dirty="0"/>
          </a:p>
        </p:txBody>
      </p:sp>
      <p:sp>
        <p:nvSpPr>
          <p:cNvPr id="23" name="Text 21"/>
          <p:cNvSpPr/>
          <p:nvPr/>
        </p:nvSpPr>
        <p:spPr>
          <a:xfrm>
            <a:off x="9525000" y="3739455"/>
            <a:ext cx="247650" cy="409575"/>
          </a:xfrm>
          <a:prstGeom prst="rect">
            <a:avLst/>
          </a:prstGeom>
          <a:noFill/>
          <a:ln/>
        </p:spPr>
        <p:txBody>
          <a:bodyPr wrap="square" lIns="25400" tIns="25400" rIns="25400" bIns="25400" rtlCol="0" anchor="t">
            <a:normAutofit/>
          </a:bodyPr>
          <a:lstStyle/>
          <a:p>
            <a:pPr algn="l" indent="0" marL="0">
              <a:buNone/>
            </a:pPr>
            <a:r>
              <a:rPr lang="en-US" sz="2250" dirty="0">
                <a:solidFill>
                  <a:srgbClr val="C2410C"/>
                </a:solidFill>
                <a:latin typeface="Courier New" pitchFamily="34" charset="0"/>
                <a:ea typeface="Courier New" pitchFamily="34" charset="-122"/>
                <a:cs typeface="Courier New" pitchFamily="34" charset="-120"/>
              </a:rPr>
              <a:t>×</a:t>
            </a:r>
            <a:endParaRPr lang="en-US" sz="2250" dirty="0"/>
          </a:p>
        </p:txBody>
      </p:sp>
      <p:sp>
        <p:nvSpPr>
          <p:cNvPr id="24" name="Text 22"/>
          <p:cNvSpPr/>
          <p:nvPr/>
        </p:nvSpPr>
        <p:spPr>
          <a:xfrm>
            <a:off x="9886950" y="3739455"/>
            <a:ext cx="4884316" cy="400050"/>
          </a:xfrm>
          <a:prstGeom prst="rect">
            <a:avLst/>
          </a:prstGeom>
          <a:noFill/>
          <a:ln/>
        </p:spPr>
        <p:txBody>
          <a:bodyPr wrap="square" lIns="25400" tIns="25400" rIns="25400" bIns="25400" rtlCol="0" anchor="t">
            <a:normAutofit/>
          </a:bodyPr>
          <a:lstStyle/>
          <a:p>
            <a:pPr algn="l" indent="0" marL="0">
              <a:buNone/>
            </a:pPr>
            <a:r>
              <a:rPr lang="en-US" sz="2400" dirty="0">
                <a:solidFill>
                  <a:srgbClr val="14181D"/>
                </a:solidFill>
                <a:latin typeface="Arial" pitchFamily="34" charset="0"/>
                <a:ea typeface="Arial" pitchFamily="34" charset="-122"/>
                <a:cs typeface="Arial" pitchFamily="34" charset="-120"/>
              </a:rPr>
              <a:t>Transcripts and temporary vectors</a:t>
            </a:r>
            <a:endParaRPr lang="en-US" sz="2400" dirty="0"/>
          </a:p>
        </p:txBody>
      </p:sp>
      <p:sp>
        <p:nvSpPr>
          <p:cNvPr id="25" name="Text 23"/>
          <p:cNvSpPr/>
          <p:nvPr/>
        </p:nvSpPr>
        <p:spPr>
          <a:xfrm>
            <a:off x="9525000" y="4244280"/>
            <a:ext cx="247650" cy="409575"/>
          </a:xfrm>
          <a:prstGeom prst="rect">
            <a:avLst/>
          </a:prstGeom>
          <a:noFill/>
          <a:ln/>
        </p:spPr>
        <p:txBody>
          <a:bodyPr wrap="square" lIns="25400" tIns="25400" rIns="25400" bIns="25400" rtlCol="0" anchor="t">
            <a:normAutofit/>
          </a:bodyPr>
          <a:lstStyle/>
          <a:p>
            <a:pPr algn="l" indent="0" marL="0">
              <a:buNone/>
            </a:pPr>
            <a:r>
              <a:rPr lang="en-US" sz="2250" dirty="0">
                <a:solidFill>
                  <a:srgbClr val="C2410C"/>
                </a:solidFill>
                <a:latin typeface="Courier New" pitchFamily="34" charset="0"/>
                <a:ea typeface="Courier New" pitchFamily="34" charset="-122"/>
                <a:cs typeface="Courier New" pitchFamily="34" charset="-120"/>
              </a:rPr>
              <a:t>×</a:t>
            </a:r>
            <a:endParaRPr lang="en-US" sz="2250" dirty="0"/>
          </a:p>
        </p:txBody>
      </p:sp>
      <p:sp>
        <p:nvSpPr>
          <p:cNvPr id="26" name="Text 24"/>
          <p:cNvSpPr/>
          <p:nvPr/>
        </p:nvSpPr>
        <p:spPr>
          <a:xfrm>
            <a:off x="9886950" y="4244280"/>
            <a:ext cx="4525789" cy="400050"/>
          </a:xfrm>
          <a:prstGeom prst="rect">
            <a:avLst/>
          </a:prstGeom>
          <a:noFill/>
          <a:ln/>
        </p:spPr>
        <p:txBody>
          <a:bodyPr wrap="square" lIns="25400" tIns="25400" rIns="25400" bIns="25400" rtlCol="0" anchor="t">
            <a:normAutofit/>
          </a:bodyPr>
          <a:lstStyle/>
          <a:p>
            <a:pPr algn="l" indent="0" marL="0">
              <a:buNone/>
            </a:pPr>
            <a:r>
              <a:rPr lang="en-US" sz="2400" dirty="0">
                <a:solidFill>
                  <a:srgbClr val="14181D"/>
                </a:solidFill>
                <a:latin typeface="Arial" pitchFamily="34" charset="0"/>
                <a:ea typeface="Arial" pitchFamily="34" charset="-122"/>
                <a:cs typeface="Arial" pitchFamily="34" charset="-120"/>
              </a:rPr>
              <a:t>Chat history and session record</a:t>
            </a:r>
            <a:endParaRPr lang="en-US" sz="2400" dirty="0"/>
          </a:p>
        </p:txBody>
      </p:sp>
      <p:sp>
        <p:nvSpPr>
          <p:cNvPr id="27" name="Text 25"/>
          <p:cNvSpPr/>
          <p:nvPr/>
        </p:nvSpPr>
        <p:spPr>
          <a:xfrm>
            <a:off x="9525000" y="4749105"/>
            <a:ext cx="247650" cy="409575"/>
          </a:xfrm>
          <a:prstGeom prst="rect">
            <a:avLst/>
          </a:prstGeom>
          <a:noFill/>
          <a:ln/>
        </p:spPr>
        <p:txBody>
          <a:bodyPr wrap="square" lIns="25400" tIns="25400" rIns="25400" bIns="25400" rtlCol="0" anchor="t">
            <a:normAutofit/>
          </a:bodyPr>
          <a:lstStyle/>
          <a:p>
            <a:pPr algn="l" indent="0" marL="0">
              <a:buNone/>
            </a:pPr>
            <a:r>
              <a:rPr lang="en-US" sz="2250" dirty="0">
                <a:solidFill>
                  <a:srgbClr val="C2410C"/>
                </a:solidFill>
                <a:latin typeface="Courier New" pitchFamily="34" charset="0"/>
                <a:ea typeface="Courier New" pitchFamily="34" charset="-122"/>
                <a:cs typeface="Courier New" pitchFamily="34" charset="-120"/>
              </a:rPr>
              <a:t>×</a:t>
            </a:r>
            <a:endParaRPr lang="en-US" sz="2250" dirty="0"/>
          </a:p>
        </p:txBody>
      </p:sp>
      <p:sp>
        <p:nvSpPr>
          <p:cNvPr id="28" name="Text 26"/>
          <p:cNvSpPr/>
          <p:nvPr/>
        </p:nvSpPr>
        <p:spPr>
          <a:xfrm>
            <a:off x="9886950" y="4749105"/>
            <a:ext cx="4209990" cy="400050"/>
          </a:xfrm>
          <a:prstGeom prst="rect">
            <a:avLst/>
          </a:prstGeom>
          <a:noFill/>
          <a:ln/>
        </p:spPr>
        <p:txBody>
          <a:bodyPr wrap="square" lIns="25400" tIns="25400" rIns="25400" bIns="25400" rtlCol="0" anchor="t">
            <a:normAutofit/>
          </a:bodyPr>
          <a:lstStyle/>
          <a:p>
            <a:pPr algn="l" indent="0" marL="0">
              <a:buNone/>
            </a:pPr>
            <a:r>
              <a:rPr lang="en-US" sz="2400" dirty="0">
                <a:solidFill>
                  <a:srgbClr val="14181D"/>
                </a:solidFill>
                <a:latin typeface="Arial" pitchFamily="34" charset="0"/>
                <a:ea typeface="Arial" pitchFamily="34" charset="-122"/>
                <a:cs typeface="Arial" pitchFamily="34" charset="-120"/>
              </a:rPr>
              <a:t>User-to-document mappings</a:t>
            </a:r>
            <a:endParaRPr lang="en-US" sz="2400" dirty="0"/>
          </a:p>
        </p:txBody>
      </p:sp>
      <p:sp>
        <p:nvSpPr>
          <p:cNvPr id="29" name="Text 27"/>
          <p:cNvSpPr/>
          <p:nvPr/>
        </p:nvSpPr>
        <p:spPr>
          <a:xfrm>
            <a:off x="9525000" y="5253930"/>
            <a:ext cx="248245" cy="409575"/>
          </a:xfrm>
          <a:prstGeom prst="rect">
            <a:avLst/>
          </a:prstGeom>
          <a:noFill/>
          <a:ln/>
        </p:spPr>
        <p:txBody>
          <a:bodyPr wrap="square" lIns="25400" tIns="25400" rIns="25400" bIns="25400" rtlCol="0" anchor="t">
            <a:normAutofit/>
          </a:bodyPr>
          <a:lstStyle/>
          <a:p>
            <a:pPr algn="l" indent="0" marL="0">
              <a:buNone/>
            </a:pPr>
            <a:r>
              <a:rPr lang="en-US" sz="2250" dirty="0">
                <a:solidFill>
                  <a:srgbClr val="0F766E"/>
                </a:solidFill>
                <a:latin typeface="Courier New" pitchFamily="34" charset="0"/>
                <a:ea typeface="Courier New" pitchFamily="34" charset="-122"/>
                <a:cs typeface="Courier New" pitchFamily="34" charset="-120"/>
              </a:rPr>
              <a:t>✓</a:t>
            </a:r>
            <a:endParaRPr lang="en-US" sz="2250" dirty="0"/>
          </a:p>
        </p:txBody>
      </p:sp>
      <p:sp>
        <p:nvSpPr>
          <p:cNvPr id="30" name="Text 28"/>
          <p:cNvSpPr/>
          <p:nvPr/>
        </p:nvSpPr>
        <p:spPr>
          <a:xfrm>
            <a:off x="9887545" y="5253930"/>
            <a:ext cx="7671393" cy="762000"/>
          </a:xfrm>
          <a:prstGeom prst="rect">
            <a:avLst/>
          </a:prstGeom>
          <a:noFill/>
          <a:ln/>
        </p:spPr>
        <p:txBody>
          <a:bodyPr wrap="square" lIns="25400" tIns="25400" rIns="25400" bIns="25400" rtlCol="0" anchor="t">
            <a:normAutofit/>
          </a:bodyPr>
          <a:lstStyle/>
          <a:p>
            <a:pPr algn="l" indent="0" marL="0">
              <a:buNone/>
            </a:pPr>
            <a:r>
              <a:rPr lang="en-US" sz="2400" dirty="0">
                <a:solidFill>
                  <a:srgbClr val="14181D"/>
                </a:solidFill>
                <a:latin typeface="Arial" pitchFamily="34" charset="0"/>
                <a:ea typeface="Arial" pitchFamily="34" charset="-122"/>
                <a:cs typeface="Arial" pitchFamily="34" charset="-120"/>
              </a:rPr>
              <a:t>Anonymous processing cache retained — no identity, no conversation</a:t>
            </a:r>
            <a:endParaRPr lang="en-US" sz="2400" dirty="0"/>
          </a:p>
        </p:txBody>
      </p:sp>
      <p:sp>
        <p:nvSpPr>
          <p:cNvPr id="31" name="Shape 29"/>
          <p:cNvSpPr/>
          <p:nvPr/>
        </p:nvSpPr>
        <p:spPr>
          <a:xfrm>
            <a:off x="9525000" y="6187380"/>
            <a:ext cx="7810500" cy="2064841"/>
          </a:xfrm>
          <a:prstGeom prst="rect">
            <a:avLst/>
          </a:prstGeom>
          <a:solidFill>
            <a:srgbClr val="FFFFFF"/>
          </a:solidFill>
          <a:ln w="9525">
            <a:solidFill>
              <a:srgbClr val="DED8CC"/>
            </a:solidFill>
            <a:prstDash val="solid"/>
          </a:ln>
        </p:spPr>
      </p:sp>
      <p:sp>
        <p:nvSpPr>
          <p:cNvPr id="32" name="Text 30"/>
          <p:cNvSpPr/>
          <p:nvPr/>
        </p:nvSpPr>
        <p:spPr>
          <a:xfrm>
            <a:off x="9782175" y="6425505"/>
            <a:ext cx="8025765"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14181D"/>
                </a:solidFill>
                <a:latin typeface="Arial" pitchFamily="34" charset="0"/>
                <a:ea typeface="Arial" pitchFamily="34" charset="-122"/>
                <a:cs typeface="Arial" pitchFamily="34" charset="-120"/>
              </a:rPr>
              <a:t>Safety nets</a:t>
            </a:r>
            <a:endParaRPr lang="en-US" sz="2250" dirty="0"/>
          </a:p>
        </p:txBody>
      </p:sp>
      <p:sp>
        <p:nvSpPr>
          <p:cNvPr id="33" name="Text 31"/>
          <p:cNvSpPr/>
          <p:nvPr/>
        </p:nvSpPr>
        <p:spPr>
          <a:xfrm>
            <a:off x="9782175" y="6854130"/>
            <a:ext cx="7515035" cy="1198066"/>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3F4750"/>
                </a:solidFill>
                <a:latin typeface="Arial" pitchFamily="34" charset="0"/>
                <a:ea typeface="Arial" pitchFamily="34" charset="-122"/>
                <a:cs typeface="Arial" pitchFamily="34" charset="-120"/>
              </a:rPr>
              <a:t>TTL expiry clears abandoned sessions, files and vectors independently of logout. Strict privacy mode deletes the cache as well, for customers who require absolute erasure.</a:t>
            </a:r>
            <a:endParaRPr lang="en-US" sz="2175" dirty="0"/>
          </a:p>
        </p:txBody>
      </p:sp>
      <p:sp>
        <p:nvSpPr>
          <p:cNvPr id="34" name="Shape 32"/>
          <p:cNvSpPr/>
          <p:nvPr/>
        </p:nvSpPr>
        <p:spPr>
          <a:xfrm>
            <a:off x="9525000" y="8461772"/>
            <a:ext cx="38100" cy="1159966"/>
          </a:xfrm>
          <a:prstGeom prst="rect">
            <a:avLst/>
          </a:prstGeom>
          <a:solidFill>
            <a:srgbClr val="C2410C"/>
          </a:solidFill>
          <a:ln/>
        </p:spPr>
      </p:sp>
      <p:sp>
        <p:nvSpPr>
          <p:cNvPr id="35" name="Text 33"/>
          <p:cNvSpPr/>
          <p:nvPr/>
        </p:nvSpPr>
        <p:spPr>
          <a:xfrm>
            <a:off x="9829800" y="8461772"/>
            <a:ext cx="7740015" cy="1198066"/>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3F4750"/>
                </a:solidFill>
                <a:latin typeface="Arial" pitchFamily="34" charset="0"/>
                <a:ea typeface="Arial" pitchFamily="34" charset="-122"/>
                <a:cs typeface="Arial" pitchFamily="34" charset="-120"/>
              </a:rPr>
              <a:t>Every operation writes a cost record — parsing, OCR, transcription, vision, embedding, retrieval, tokens — so cost per document and per question is measurable, not estimated.</a:t>
            </a:r>
            <a:endParaRPr lang="en-US" sz="21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2"/>
        </a:solidFill>
      </p:bgPr>
    </p:bg>
    <p:spTree>
      <p:nvGrpSpPr>
        <p:cNvPr id="1" name=""/>
        <p:cNvGrpSpPr/>
        <p:nvPr/>
      </p:nvGrpSpPr>
      <p:grpSpPr>
        <a:xfrm>
          <a:off x="0" y="0"/>
          <a:ext cx="0" cy="0"/>
          <a:chOff x="0" y="0"/>
          <a:chExt cx="0" cy="0"/>
        </a:xfrm>
      </p:grpSpPr>
      <p:sp>
        <p:nvSpPr>
          <p:cNvPr id="2" name="Text 0"/>
          <p:cNvSpPr/>
          <p:nvPr/>
        </p:nvSpPr>
        <p:spPr>
          <a:xfrm>
            <a:off x="952500" y="952500"/>
            <a:ext cx="18021300" cy="390525"/>
          </a:xfrm>
          <a:prstGeom prst="rect">
            <a:avLst/>
          </a:prstGeom>
          <a:noFill/>
          <a:ln/>
        </p:spPr>
        <p:txBody>
          <a:bodyPr wrap="square" lIns="25400" tIns="25400" rIns="25400" bIns="25400" rtlCol="0" anchor="t">
            <a:normAutofit/>
          </a:bodyPr>
          <a:lstStyle/>
          <a:p>
            <a:pPr algn="l" indent="0" marL="0">
              <a:buNone/>
            </a:pPr>
            <a:r>
              <a:rPr lang="en-US" sz="2100" spc="336" kern="0" dirty="0">
                <a:solidFill>
                  <a:srgbClr val="FF7A45"/>
                </a:solidFill>
                <a:latin typeface="Courier New" pitchFamily="34" charset="0"/>
                <a:ea typeface="Courier New" pitchFamily="34" charset="-122"/>
                <a:cs typeface="Courier New" pitchFamily="34" charset="-120"/>
              </a:rPr>
              <a:t>04 — DELIVERY</a:t>
            </a:r>
            <a:endParaRPr lang="en-US" sz="2100" dirty="0"/>
          </a:p>
        </p:txBody>
      </p:sp>
      <p:sp>
        <p:nvSpPr>
          <p:cNvPr id="3" name="Text 1"/>
          <p:cNvSpPr/>
          <p:nvPr/>
        </p:nvSpPr>
        <p:spPr>
          <a:xfrm>
            <a:off x="952500" y="1476375"/>
            <a:ext cx="18021300" cy="758130"/>
          </a:xfrm>
          <a:prstGeom prst="rect">
            <a:avLst/>
          </a:prstGeom>
          <a:noFill/>
          <a:ln/>
        </p:spPr>
        <p:txBody>
          <a:bodyPr wrap="square" lIns="25400" tIns="25400" rIns="25400" bIns="25400" rtlCol="0" anchor="t">
            <a:normAutofit/>
          </a:bodyPr>
          <a:lstStyle/>
          <a:p>
            <a:pPr algn="l" indent="0" marL="0">
              <a:lnSpc>
                <a:spcPct val="92195"/>
              </a:lnSpc>
              <a:buNone/>
            </a:pPr>
            <a:r>
              <a:rPr lang="en-US" sz="5400" b="1" spc="-108" kern="0" dirty="0">
                <a:solidFill>
                  <a:srgbClr val="ECEFF2"/>
                </a:solidFill>
                <a:latin typeface="Arial" pitchFamily="34" charset="0"/>
                <a:ea typeface="Arial" pitchFamily="34" charset="-122"/>
                <a:cs typeface="Arial" pitchFamily="34" charset="-120"/>
              </a:rPr>
              <a:t>Phased build, four-person core team</a:t>
            </a:r>
            <a:endParaRPr lang="en-US" sz="5400" dirty="0"/>
          </a:p>
        </p:txBody>
      </p:sp>
      <p:sp>
        <p:nvSpPr>
          <p:cNvPr id="4" name="Shape 2"/>
          <p:cNvSpPr/>
          <p:nvPr/>
        </p:nvSpPr>
        <p:spPr>
          <a:xfrm>
            <a:off x="952500" y="2691705"/>
            <a:ext cx="3952875" cy="3523952"/>
          </a:xfrm>
          <a:prstGeom prst="rect">
            <a:avLst/>
          </a:prstGeom>
          <a:solidFill>
            <a:srgbClr val="151B22"/>
          </a:solidFill>
          <a:ln/>
        </p:spPr>
      </p:sp>
      <p:sp>
        <p:nvSpPr>
          <p:cNvPr id="5" name="Shape 3"/>
          <p:cNvSpPr/>
          <p:nvPr/>
        </p:nvSpPr>
        <p:spPr>
          <a:xfrm>
            <a:off x="952500" y="2691705"/>
            <a:ext cx="3952875" cy="38100"/>
          </a:xfrm>
          <a:prstGeom prst="rect">
            <a:avLst/>
          </a:prstGeom>
          <a:solidFill>
            <a:srgbClr val="FF7A45"/>
          </a:solidFill>
          <a:ln/>
        </p:spPr>
      </p:sp>
      <p:sp>
        <p:nvSpPr>
          <p:cNvPr id="6" name="Text 4"/>
          <p:cNvSpPr/>
          <p:nvPr/>
        </p:nvSpPr>
        <p:spPr>
          <a:xfrm>
            <a:off x="1219200" y="3015555"/>
            <a:ext cx="3761423" cy="361950"/>
          </a:xfrm>
          <a:prstGeom prst="rect">
            <a:avLst/>
          </a:prstGeom>
          <a:noFill/>
          <a:ln/>
        </p:spPr>
        <p:txBody>
          <a:bodyPr wrap="square" lIns="25400" tIns="25400" rIns="25400" bIns="25400" rtlCol="0" anchor="t">
            <a:normAutofit/>
          </a:bodyPr>
          <a:lstStyle/>
          <a:p>
            <a:pPr algn="l" indent="0" marL="0">
              <a:buNone/>
            </a:pPr>
            <a:r>
              <a:rPr lang="en-US" sz="1950" spc="195" kern="0" dirty="0">
                <a:solidFill>
                  <a:srgbClr val="FF7A45"/>
                </a:solidFill>
                <a:latin typeface="Courier New" pitchFamily="34" charset="0"/>
                <a:ea typeface="Courier New" pitchFamily="34" charset="-122"/>
                <a:cs typeface="Courier New" pitchFamily="34" charset="-120"/>
              </a:rPr>
              <a:t>PHASE 1 — MVP</a:t>
            </a:r>
            <a:endParaRPr lang="en-US" sz="1950" dirty="0"/>
          </a:p>
        </p:txBody>
      </p:sp>
      <p:sp>
        <p:nvSpPr>
          <p:cNvPr id="7" name="Text 5"/>
          <p:cNvSpPr/>
          <p:nvPr/>
        </p:nvSpPr>
        <p:spPr>
          <a:xfrm>
            <a:off x="1219200" y="3472755"/>
            <a:ext cx="3761423"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b="1" dirty="0">
                <a:solidFill>
                  <a:srgbClr val="ECEFF2"/>
                </a:solidFill>
                <a:latin typeface="Arial" pitchFamily="34" charset="0"/>
                <a:ea typeface="Arial" pitchFamily="34" charset="-122"/>
                <a:cs typeface="Arial" pitchFamily="34" charset="-120"/>
              </a:rPr>
              <a:t>Documents, end to end</a:t>
            </a:r>
            <a:endParaRPr lang="en-US" sz="2550" dirty="0"/>
          </a:p>
        </p:txBody>
      </p:sp>
      <p:sp>
        <p:nvSpPr>
          <p:cNvPr id="8" name="Text 6"/>
          <p:cNvSpPr/>
          <p:nvPr/>
        </p:nvSpPr>
        <p:spPr>
          <a:xfrm>
            <a:off x="1219200" y="3994696"/>
            <a:ext cx="3522059" cy="1584722"/>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8B98A6"/>
                </a:solidFill>
                <a:latin typeface="Arial" pitchFamily="34" charset="0"/>
                <a:ea typeface="Arial" pitchFamily="34" charset="-122"/>
                <a:cs typeface="Arial" pitchFamily="34" charset="-120"/>
              </a:rPr>
              <a:t>PDF, DOCX, TXT and basic OCR. Hybrid search, reranking, citations, content hashing, session deletion.</a:t>
            </a:r>
            <a:endParaRPr lang="en-US" sz="2100" dirty="0"/>
          </a:p>
        </p:txBody>
      </p:sp>
      <p:sp>
        <p:nvSpPr>
          <p:cNvPr id="9" name="Shape 7"/>
          <p:cNvSpPr/>
          <p:nvPr/>
        </p:nvSpPr>
        <p:spPr>
          <a:xfrm>
            <a:off x="5095875" y="2691705"/>
            <a:ext cx="3952875" cy="3523952"/>
          </a:xfrm>
          <a:prstGeom prst="rect">
            <a:avLst/>
          </a:prstGeom>
          <a:solidFill>
            <a:srgbClr val="151B22"/>
          </a:solidFill>
          <a:ln/>
        </p:spPr>
      </p:sp>
      <p:sp>
        <p:nvSpPr>
          <p:cNvPr id="10" name="Shape 8"/>
          <p:cNvSpPr/>
          <p:nvPr/>
        </p:nvSpPr>
        <p:spPr>
          <a:xfrm>
            <a:off x="5095875" y="2691705"/>
            <a:ext cx="3952875" cy="38100"/>
          </a:xfrm>
          <a:prstGeom prst="rect">
            <a:avLst/>
          </a:prstGeom>
          <a:solidFill>
            <a:srgbClr val="2F3A45"/>
          </a:solidFill>
          <a:ln/>
        </p:spPr>
      </p:sp>
      <p:sp>
        <p:nvSpPr>
          <p:cNvPr id="11" name="Text 9"/>
          <p:cNvSpPr/>
          <p:nvPr/>
        </p:nvSpPr>
        <p:spPr>
          <a:xfrm>
            <a:off x="5362575" y="3015555"/>
            <a:ext cx="3761423" cy="361950"/>
          </a:xfrm>
          <a:prstGeom prst="rect">
            <a:avLst/>
          </a:prstGeom>
          <a:noFill/>
          <a:ln/>
        </p:spPr>
        <p:txBody>
          <a:bodyPr wrap="square" lIns="25400" tIns="25400" rIns="25400" bIns="25400" rtlCol="0" anchor="t">
            <a:normAutofit/>
          </a:bodyPr>
          <a:lstStyle/>
          <a:p>
            <a:pPr algn="l" indent="0" marL="0">
              <a:buNone/>
            </a:pPr>
            <a:r>
              <a:rPr lang="en-US" sz="1950" spc="195" kern="0" dirty="0">
                <a:solidFill>
                  <a:srgbClr val="6F7D8C"/>
                </a:solidFill>
                <a:latin typeface="Courier New" pitchFamily="34" charset="0"/>
                <a:ea typeface="Courier New" pitchFamily="34" charset="-122"/>
                <a:cs typeface="Courier New" pitchFamily="34" charset="-120"/>
              </a:rPr>
              <a:t>PHASE 2</a:t>
            </a:r>
            <a:endParaRPr lang="en-US" sz="1950" dirty="0"/>
          </a:p>
        </p:txBody>
      </p:sp>
      <p:sp>
        <p:nvSpPr>
          <p:cNvPr id="12" name="Text 10"/>
          <p:cNvSpPr/>
          <p:nvPr/>
        </p:nvSpPr>
        <p:spPr>
          <a:xfrm>
            <a:off x="5362575" y="3472755"/>
            <a:ext cx="3522059" cy="815280"/>
          </a:xfrm>
          <a:prstGeom prst="rect">
            <a:avLst/>
          </a:prstGeom>
          <a:noFill/>
          <a:ln/>
        </p:spPr>
        <p:txBody>
          <a:bodyPr wrap="square" lIns="25400" tIns="25400" rIns="25400" bIns="25400" rtlCol="0" anchor="t">
            <a:normAutofit/>
          </a:bodyPr>
          <a:lstStyle/>
          <a:p>
            <a:pPr algn="l" indent="0" marL="0">
              <a:lnSpc>
                <a:spcPct val="104615"/>
              </a:lnSpc>
              <a:buNone/>
            </a:pPr>
            <a:r>
              <a:rPr lang="en-US" sz="2550" b="1" dirty="0">
                <a:solidFill>
                  <a:srgbClr val="ECEFF2"/>
                </a:solidFill>
                <a:latin typeface="Arial" pitchFamily="34" charset="0"/>
                <a:ea typeface="Arial" pitchFamily="34" charset="-122"/>
                <a:cs typeface="Arial" pitchFamily="34" charset="-120"/>
              </a:rPr>
              <a:t>Spreadsheets and decks</a:t>
            </a:r>
            <a:endParaRPr lang="en-US" sz="2550" dirty="0"/>
          </a:p>
        </p:txBody>
      </p:sp>
      <p:sp>
        <p:nvSpPr>
          <p:cNvPr id="13" name="Text 11"/>
          <p:cNvSpPr/>
          <p:nvPr/>
        </p:nvSpPr>
        <p:spPr>
          <a:xfrm>
            <a:off x="5362575" y="4383286"/>
            <a:ext cx="3522059" cy="1584722"/>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8B98A6"/>
                </a:solidFill>
                <a:latin typeface="Arial" pitchFamily="34" charset="0"/>
                <a:ea typeface="Arial" pitchFamily="34" charset="-122"/>
                <a:cs typeface="Arial" pitchFamily="34" charset="-120"/>
              </a:rPr>
              <a:t>XLSX and PPTX with real table extraction. Answer cache, processing cache, cost dashboard.</a:t>
            </a:r>
            <a:endParaRPr lang="en-US" sz="2100" dirty="0"/>
          </a:p>
        </p:txBody>
      </p:sp>
      <p:sp>
        <p:nvSpPr>
          <p:cNvPr id="14" name="Shape 12"/>
          <p:cNvSpPr/>
          <p:nvPr/>
        </p:nvSpPr>
        <p:spPr>
          <a:xfrm>
            <a:off x="9239250" y="2691705"/>
            <a:ext cx="3952875" cy="3523952"/>
          </a:xfrm>
          <a:prstGeom prst="rect">
            <a:avLst/>
          </a:prstGeom>
          <a:solidFill>
            <a:srgbClr val="151B22"/>
          </a:solidFill>
          <a:ln/>
        </p:spPr>
      </p:sp>
      <p:sp>
        <p:nvSpPr>
          <p:cNvPr id="15" name="Shape 13"/>
          <p:cNvSpPr/>
          <p:nvPr/>
        </p:nvSpPr>
        <p:spPr>
          <a:xfrm>
            <a:off x="9239250" y="2691705"/>
            <a:ext cx="3952875" cy="38100"/>
          </a:xfrm>
          <a:prstGeom prst="rect">
            <a:avLst/>
          </a:prstGeom>
          <a:solidFill>
            <a:srgbClr val="2F3A45"/>
          </a:solidFill>
          <a:ln/>
        </p:spPr>
      </p:sp>
      <p:sp>
        <p:nvSpPr>
          <p:cNvPr id="16" name="Text 14"/>
          <p:cNvSpPr/>
          <p:nvPr/>
        </p:nvSpPr>
        <p:spPr>
          <a:xfrm>
            <a:off x="9505950" y="3015555"/>
            <a:ext cx="3761423" cy="361950"/>
          </a:xfrm>
          <a:prstGeom prst="rect">
            <a:avLst/>
          </a:prstGeom>
          <a:noFill/>
          <a:ln/>
        </p:spPr>
        <p:txBody>
          <a:bodyPr wrap="square" lIns="25400" tIns="25400" rIns="25400" bIns="25400" rtlCol="0" anchor="t">
            <a:normAutofit/>
          </a:bodyPr>
          <a:lstStyle/>
          <a:p>
            <a:pPr algn="l" indent="0" marL="0">
              <a:buNone/>
            </a:pPr>
            <a:r>
              <a:rPr lang="en-US" sz="1950" spc="195" kern="0" dirty="0">
                <a:solidFill>
                  <a:srgbClr val="6F7D8C"/>
                </a:solidFill>
                <a:latin typeface="Courier New" pitchFamily="34" charset="0"/>
                <a:ea typeface="Courier New" pitchFamily="34" charset="-122"/>
                <a:cs typeface="Courier New" pitchFamily="34" charset="-120"/>
              </a:rPr>
              <a:t>PHASE 3</a:t>
            </a:r>
            <a:endParaRPr lang="en-US" sz="1950" dirty="0"/>
          </a:p>
        </p:txBody>
      </p:sp>
      <p:sp>
        <p:nvSpPr>
          <p:cNvPr id="17" name="Text 15"/>
          <p:cNvSpPr/>
          <p:nvPr/>
        </p:nvSpPr>
        <p:spPr>
          <a:xfrm>
            <a:off x="9505950" y="3472755"/>
            <a:ext cx="3761423"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b="1" dirty="0">
                <a:solidFill>
                  <a:srgbClr val="ECEFF2"/>
                </a:solidFill>
                <a:latin typeface="Arial" pitchFamily="34" charset="0"/>
                <a:ea typeface="Arial" pitchFamily="34" charset="-122"/>
                <a:cs typeface="Arial" pitchFamily="34" charset="-120"/>
              </a:rPr>
              <a:t>Audio and video</a:t>
            </a:r>
            <a:endParaRPr lang="en-US" sz="2550" dirty="0"/>
          </a:p>
        </p:txBody>
      </p:sp>
      <p:sp>
        <p:nvSpPr>
          <p:cNvPr id="18" name="Text 16"/>
          <p:cNvSpPr/>
          <p:nvPr/>
        </p:nvSpPr>
        <p:spPr>
          <a:xfrm>
            <a:off x="9505950" y="3994696"/>
            <a:ext cx="3522059" cy="1584722"/>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8B98A6"/>
                </a:solidFill>
                <a:latin typeface="Arial" pitchFamily="34" charset="0"/>
                <a:ea typeface="Arial" pitchFamily="34" charset="-122"/>
                <a:cs typeface="Arial" pitchFamily="34" charset="-120"/>
              </a:rPr>
              <a:t>Transcription with timestamp citations, speaker identification, key-frame vision analysis.</a:t>
            </a:r>
            <a:endParaRPr lang="en-US" sz="2100" dirty="0"/>
          </a:p>
        </p:txBody>
      </p:sp>
      <p:sp>
        <p:nvSpPr>
          <p:cNvPr id="19" name="Shape 17"/>
          <p:cNvSpPr/>
          <p:nvPr/>
        </p:nvSpPr>
        <p:spPr>
          <a:xfrm>
            <a:off x="13382625" y="2691705"/>
            <a:ext cx="3952875" cy="3523952"/>
          </a:xfrm>
          <a:prstGeom prst="rect">
            <a:avLst/>
          </a:prstGeom>
          <a:solidFill>
            <a:srgbClr val="151B22"/>
          </a:solidFill>
          <a:ln/>
        </p:spPr>
      </p:sp>
      <p:sp>
        <p:nvSpPr>
          <p:cNvPr id="20" name="Shape 18"/>
          <p:cNvSpPr/>
          <p:nvPr/>
        </p:nvSpPr>
        <p:spPr>
          <a:xfrm>
            <a:off x="13382625" y="2691705"/>
            <a:ext cx="3952875" cy="38100"/>
          </a:xfrm>
          <a:prstGeom prst="rect">
            <a:avLst/>
          </a:prstGeom>
          <a:solidFill>
            <a:srgbClr val="2F3A45"/>
          </a:solidFill>
          <a:ln/>
        </p:spPr>
      </p:sp>
      <p:sp>
        <p:nvSpPr>
          <p:cNvPr id="21" name="Text 19"/>
          <p:cNvSpPr/>
          <p:nvPr/>
        </p:nvSpPr>
        <p:spPr>
          <a:xfrm>
            <a:off x="13649325" y="3015555"/>
            <a:ext cx="3761423" cy="361950"/>
          </a:xfrm>
          <a:prstGeom prst="rect">
            <a:avLst/>
          </a:prstGeom>
          <a:noFill/>
          <a:ln/>
        </p:spPr>
        <p:txBody>
          <a:bodyPr wrap="square" lIns="25400" tIns="25400" rIns="25400" bIns="25400" rtlCol="0" anchor="t">
            <a:normAutofit/>
          </a:bodyPr>
          <a:lstStyle/>
          <a:p>
            <a:pPr algn="l" indent="0" marL="0">
              <a:buNone/>
            </a:pPr>
            <a:r>
              <a:rPr lang="en-US" sz="1950" spc="195" kern="0" dirty="0">
                <a:solidFill>
                  <a:srgbClr val="6F7D8C"/>
                </a:solidFill>
                <a:latin typeface="Courier New" pitchFamily="34" charset="0"/>
                <a:ea typeface="Courier New" pitchFamily="34" charset="-122"/>
                <a:cs typeface="Courier New" pitchFamily="34" charset="-120"/>
              </a:rPr>
              <a:t>PHASE 4</a:t>
            </a:r>
            <a:endParaRPr lang="en-US" sz="1950" dirty="0"/>
          </a:p>
        </p:txBody>
      </p:sp>
      <p:sp>
        <p:nvSpPr>
          <p:cNvPr id="22" name="Text 20"/>
          <p:cNvSpPr/>
          <p:nvPr/>
        </p:nvSpPr>
        <p:spPr>
          <a:xfrm>
            <a:off x="13649325" y="3472755"/>
            <a:ext cx="3761423"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b="1" dirty="0">
                <a:solidFill>
                  <a:srgbClr val="ECEFF2"/>
                </a:solidFill>
                <a:latin typeface="Arial" pitchFamily="34" charset="0"/>
                <a:ea typeface="Arial" pitchFamily="34" charset="-122"/>
                <a:cs typeface="Arial" pitchFamily="34" charset="-120"/>
              </a:rPr>
              <a:t>Enterprise scale</a:t>
            </a:r>
            <a:endParaRPr lang="en-US" sz="2550" dirty="0"/>
          </a:p>
        </p:txBody>
      </p:sp>
      <p:sp>
        <p:nvSpPr>
          <p:cNvPr id="23" name="Text 21"/>
          <p:cNvSpPr/>
          <p:nvPr/>
        </p:nvSpPr>
        <p:spPr>
          <a:xfrm>
            <a:off x="13649325" y="3994696"/>
            <a:ext cx="3522059" cy="1584722"/>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8B98A6"/>
                </a:solidFill>
                <a:latin typeface="Arial" pitchFamily="34" charset="0"/>
                <a:ea typeface="Arial" pitchFamily="34" charset="-122"/>
                <a:cs typeface="Arial" pitchFamily="34" charset="-120"/>
              </a:rPr>
              <a:t>Multi-tenancy, advanced permissions, model routing, analytics, automated evaluation.</a:t>
            </a:r>
            <a:endParaRPr lang="en-US" sz="2100" dirty="0"/>
          </a:p>
        </p:txBody>
      </p:sp>
      <p:sp>
        <p:nvSpPr>
          <p:cNvPr id="24" name="Text 22"/>
          <p:cNvSpPr/>
          <p:nvPr/>
        </p:nvSpPr>
        <p:spPr>
          <a:xfrm>
            <a:off x="952500" y="6710958"/>
            <a:ext cx="16874490" cy="704850"/>
          </a:xfrm>
          <a:prstGeom prst="rect">
            <a:avLst/>
          </a:prstGeom>
          <a:noFill/>
          <a:ln/>
        </p:spPr>
        <p:txBody>
          <a:bodyPr wrap="square" lIns="25400" tIns="25400" rIns="25400" bIns="25400" rtlCol="0" anchor="t">
            <a:normAutofit/>
          </a:bodyPr>
          <a:lstStyle/>
          <a:p>
            <a:pPr algn="l" indent="0" marL="0">
              <a:buNone/>
            </a:pPr>
            <a:r>
              <a:rPr lang="en-US" sz="2250" b="1" spc="135" kern="0" dirty="0">
                <a:solidFill>
                  <a:srgbClr val="6F7D8C"/>
                </a:solidFill>
                <a:latin typeface="Arial" pitchFamily="34" charset="0"/>
                <a:ea typeface="Arial" pitchFamily="34" charset="-122"/>
                <a:cs typeface="Arial" pitchFamily="34" charset="-120"/>
              </a:rPr>
              <a:t>CORE TEAM — REPORTING ON CACHE HIT RATE, GROUNDED ANSWER RATE, REFUSAL ACCURACY AND COST PER USER</a:t>
            </a:r>
            <a:endParaRPr lang="en-US" sz="2250" dirty="0"/>
          </a:p>
        </p:txBody>
      </p:sp>
      <p:sp>
        <p:nvSpPr>
          <p:cNvPr id="25" name="Text 23"/>
          <p:cNvSpPr/>
          <p:nvPr/>
        </p:nvSpPr>
        <p:spPr>
          <a:xfrm>
            <a:off x="952500" y="7615833"/>
            <a:ext cx="2430066" cy="400050"/>
          </a:xfrm>
          <a:prstGeom prst="rect">
            <a:avLst/>
          </a:prstGeom>
          <a:noFill/>
          <a:ln/>
        </p:spPr>
        <p:txBody>
          <a:bodyPr wrap="square" lIns="0" tIns="0" rIns="0" bIns="0" rtlCol="0" anchor="t">
            <a:normAutofit/>
          </a:bodyPr>
          <a:lstStyle/>
          <a:p>
            <a:pPr algn="l" indent="0" marL="0">
              <a:lnSpc>
                <a:spcPct val="112432"/>
              </a:lnSpc>
              <a:buNone/>
            </a:pPr>
            <a:r>
              <a:rPr lang="en-US" sz="2400" dirty="0">
                <a:solidFill>
                  <a:srgbClr val="ECEFF2"/>
                </a:solidFill>
                <a:latin typeface="Arial" pitchFamily="34" charset="0"/>
                <a:ea typeface="Arial" pitchFamily="34" charset="-122"/>
                <a:cs typeface="Arial" pitchFamily="34" charset="-120"/>
              </a:rPr>
              <a:t>Backend engineer</a:t>
            </a:r>
            <a:endParaRPr lang="en-US" sz="2400" dirty="0"/>
          </a:p>
        </p:txBody>
      </p:sp>
      <p:sp>
        <p:nvSpPr>
          <p:cNvPr id="26" name="Text 24"/>
          <p:cNvSpPr/>
          <p:nvPr/>
        </p:nvSpPr>
        <p:spPr>
          <a:xfrm>
            <a:off x="952500" y="8002488"/>
            <a:ext cx="4191000" cy="384721"/>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6F7D8C"/>
                </a:solidFill>
                <a:latin typeface="Arial" pitchFamily="34" charset="0"/>
                <a:ea typeface="Arial" pitchFamily="34" charset="-122"/>
                <a:cs typeface="Arial" pitchFamily="34" charset="-120"/>
              </a:rPr>
              <a:t>Java, Spring, Postgres</a:t>
            </a:r>
            <a:endParaRPr lang="en-US" sz="2100" dirty="0"/>
          </a:p>
        </p:txBody>
      </p:sp>
      <p:sp>
        <p:nvSpPr>
          <p:cNvPr id="27" name="Text 25"/>
          <p:cNvSpPr/>
          <p:nvPr/>
        </p:nvSpPr>
        <p:spPr>
          <a:xfrm>
            <a:off x="5143500" y="7615833"/>
            <a:ext cx="2375892" cy="400050"/>
          </a:xfrm>
          <a:prstGeom prst="rect">
            <a:avLst/>
          </a:prstGeom>
          <a:noFill/>
          <a:ln/>
        </p:spPr>
        <p:txBody>
          <a:bodyPr wrap="square" lIns="0" tIns="0" rIns="0" bIns="0" rtlCol="0" anchor="t">
            <a:normAutofit/>
          </a:bodyPr>
          <a:lstStyle/>
          <a:p>
            <a:pPr algn="l" indent="0" marL="0">
              <a:lnSpc>
                <a:spcPct val="112432"/>
              </a:lnSpc>
              <a:buNone/>
            </a:pPr>
            <a:r>
              <a:rPr lang="en-US" sz="2400" dirty="0">
                <a:solidFill>
                  <a:srgbClr val="ECEFF2"/>
                </a:solidFill>
                <a:latin typeface="Arial" pitchFamily="34" charset="0"/>
                <a:ea typeface="Arial" pitchFamily="34" charset="-122"/>
                <a:cs typeface="Arial" pitchFamily="34" charset="-120"/>
              </a:rPr>
              <a:t>AI / RAG engineer</a:t>
            </a:r>
            <a:endParaRPr lang="en-US" sz="2400" dirty="0"/>
          </a:p>
        </p:txBody>
      </p:sp>
      <p:sp>
        <p:nvSpPr>
          <p:cNvPr id="28" name="Text 26"/>
          <p:cNvSpPr/>
          <p:nvPr/>
        </p:nvSpPr>
        <p:spPr>
          <a:xfrm>
            <a:off x="5143500" y="8002488"/>
            <a:ext cx="4191000" cy="384721"/>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6F7D8C"/>
                </a:solidFill>
                <a:latin typeface="Arial" pitchFamily="34" charset="0"/>
                <a:ea typeface="Arial" pitchFamily="34" charset="-122"/>
                <a:cs typeface="Arial" pitchFamily="34" charset="-120"/>
              </a:rPr>
              <a:t>Retrieval, evaluation</a:t>
            </a:r>
            <a:endParaRPr lang="en-US" sz="2100" dirty="0"/>
          </a:p>
        </p:txBody>
      </p:sp>
      <p:sp>
        <p:nvSpPr>
          <p:cNvPr id="29" name="Text 27"/>
          <p:cNvSpPr/>
          <p:nvPr/>
        </p:nvSpPr>
        <p:spPr>
          <a:xfrm>
            <a:off x="9334500" y="7615833"/>
            <a:ext cx="2460575" cy="400050"/>
          </a:xfrm>
          <a:prstGeom prst="rect">
            <a:avLst/>
          </a:prstGeom>
          <a:noFill/>
          <a:ln/>
        </p:spPr>
        <p:txBody>
          <a:bodyPr wrap="square" lIns="0" tIns="0" rIns="0" bIns="0" rtlCol="0" anchor="t">
            <a:normAutofit/>
          </a:bodyPr>
          <a:lstStyle/>
          <a:p>
            <a:pPr algn="l" indent="0" marL="0">
              <a:lnSpc>
                <a:spcPct val="112432"/>
              </a:lnSpc>
              <a:buNone/>
            </a:pPr>
            <a:r>
              <a:rPr lang="en-US" sz="2400" dirty="0">
                <a:solidFill>
                  <a:srgbClr val="ECEFF2"/>
                </a:solidFill>
                <a:latin typeface="Arial" pitchFamily="34" charset="0"/>
                <a:ea typeface="Arial" pitchFamily="34" charset="-122"/>
                <a:cs typeface="Arial" pitchFamily="34" charset="-120"/>
              </a:rPr>
              <a:t>Frontend engineer</a:t>
            </a:r>
            <a:endParaRPr lang="en-US" sz="2400" dirty="0"/>
          </a:p>
        </p:txBody>
      </p:sp>
      <p:sp>
        <p:nvSpPr>
          <p:cNvPr id="30" name="Text 28"/>
          <p:cNvSpPr/>
          <p:nvPr/>
        </p:nvSpPr>
        <p:spPr>
          <a:xfrm>
            <a:off x="9334500" y="8002488"/>
            <a:ext cx="4191000" cy="384721"/>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6F7D8C"/>
                </a:solidFill>
                <a:latin typeface="Arial" pitchFamily="34" charset="0"/>
                <a:ea typeface="Arial" pitchFamily="34" charset="-122"/>
                <a:cs typeface="Arial" pitchFamily="34" charset="-120"/>
              </a:rPr>
              <a:t>React, streaming chat</a:t>
            </a:r>
            <a:endParaRPr lang="en-US" sz="2100" dirty="0"/>
          </a:p>
        </p:txBody>
      </p:sp>
      <p:sp>
        <p:nvSpPr>
          <p:cNvPr id="31" name="Text 29"/>
          <p:cNvSpPr/>
          <p:nvPr/>
        </p:nvSpPr>
        <p:spPr>
          <a:xfrm>
            <a:off x="13525500" y="7615833"/>
            <a:ext cx="1135856" cy="400050"/>
          </a:xfrm>
          <a:prstGeom prst="rect">
            <a:avLst/>
          </a:prstGeom>
          <a:noFill/>
          <a:ln/>
        </p:spPr>
        <p:txBody>
          <a:bodyPr wrap="square" lIns="0" tIns="0" rIns="0" bIns="0" rtlCol="0" anchor="t">
            <a:normAutofit/>
          </a:bodyPr>
          <a:lstStyle/>
          <a:p>
            <a:pPr algn="l" indent="0" marL="0">
              <a:lnSpc>
                <a:spcPct val="112432"/>
              </a:lnSpc>
              <a:buNone/>
            </a:pPr>
            <a:r>
              <a:rPr lang="en-US" sz="2400" dirty="0">
                <a:solidFill>
                  <a:srgbClr val="ECEFF2"/>
                </a:solidFill>
                <a:latin typeface="Arial" pitchFamily="34" charset="0"/>
                <a:ea typeface="Arial" pitchFamily="34" charset="-122"/>
                <a:cs typeface="Arial" pitchFamily="34" charset="-120"/>
              </a:rPr>
              <a:t>DevOps</a:t>
            </a:r>
            <a:endParaRPr lang="en-US" sz="2400" dirty="0"/>
          </a:p>
        </p:txBody>
      </p:sp>
      <p:sp>
        <p:nvSpPr>
          <p:cNvPr id="32" name="Text 30"/>
          <p:cNvSpPr/>
          <p:nvPr/>
        </p:nvSpPr>
        <p:spPr>
          <a:xfrm>
            <a:off x="13525500" y="8002488"/>
            <a:ext cx="4191000" cy="384721"/>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6F7D8C"/>
                </a:solidFill>
                <a:latin typeface="Arial" pitchFamily="34" charset="0"/>
                <a:ea typeface="Arial" pitchFamily="34" charset="-122"/>
                <a:cs typeface="Arial" pitchFamily="34" charset="-120"/>
              </a:rPr>
              <a:t>Part-time, cloud &amp; security</a:t>
            </a:r>
            <a:endParaRPr lang="en-US" sz="2100" dirty="0"/>
          </a:p>
        </p:txBody>
      </p:sp>
      <p:sp>
        <p:nvSpPr>
          <p:cNvPr id="33" name="Shape 31"/>
          <p:cNvSpPr/>
          <p:nvPr/>
        </p:nvSpPr>
        <p:spPr>
          <a:xfrm>
            <a:off x="952500" y="8844409"/>
            <a:ext cx="14287500" cy="9525"/>
          </a:xfrm>
          <a:prstGeom prst="rect">
            <a:avLst/>
          </a:prstGeom>
          <a:solidFill>
            <a:srgbClr val="222A33"/>
          </a:solidFill>
          <a:ln/>
        </p:spPr>
      </p:sp>
      <p:sp>
        <p:nvSpPr>
          <p:cNvPr id="34" name="Text 32"/>
          <p:cNvSpPr/>
          <p:nvPr/>
        </p:nvSpPr>
        <p:spPr>
          <a:xfrm>
            <a:off x="952500" y="9120634"/>
            <a:ext cx="14716125" cy="963811"/>
          </a:xfrm>
          <a:prstGeom prst="rect">
            <a:avLst/>
          </a:prstGeom>
          <a:noFill/>
          <a:ln/>
        </p:spPr>
        <p:txBody>
          <a:bodyPr wrap="square" lIns="25400" tIns="25400" rIns="25400" bIns="25400" rtlCol="0" anchor="t">
            <a:normAutofit/>
          </a:bodyPr>
          <a:lstStyle/>
          <a:p>
            <a:pPr algn="l" indent="0" marL="0">
              <a:lnSpc>
                <a:spcPct val="115714"/>
              </a:lnSpc>
              <a:buNone/>
            </a:pPr>
            <a:r>
              <a:rPr lang="en-US" sz="2700" dirty="0">
                <a:solidFill>
                  <a:srgbClr val="ECEFF2"/>
                </a:solidFill>
                <a:latin typeface="Arial" pitchFamily="34" charset="0"/>
                <a:ea typeface="Arial" pitchFamily="34" charset="-122"/>
                <a:cs typeface="Arial" pitchFamily="34" charset="-120"/>
              </a:rPr>
              <a:t>Answer quality comes from retrieval, reranking, the evidence gate and citations — not from a larger model.</a:t>
            </a:r>
            <a:endParaRPr lang="en-US" sz="2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2026-09-11T09:04:43Z</dcterms:created>
  <dcterms:modified xsi:type="dcterms:W3CDTF">2026-09-11T09:04:43Z</dcterms:modified>
</cp:coreProperties>
</file>